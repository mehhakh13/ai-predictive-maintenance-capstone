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Predictive Maintenance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Feature Implementation Deep Dive</a:t>
            </a:r>
          </a:p>
          <a:p/>
          <a:p>
            <a:r>
              <a:t>✓ Explainability (SHAP)</a:t>
            </a:r>
          </a:p>
          <a:p>
            <a:r>
              <a:t>✓ Defect Analysis (BERTopic)</a:t>
            </a:r>
          </a:p>
          <a:p>
            <a:r>
              <a:t>✓ Cost Dashboard</a:t>
            </a:r>
          </a:p>
          <a:p>
            <a:r>
              <a:t>✓ Chatbot (RAG)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System: AI-Powered Predictive Maintenance for University Facilities</a:t>
            </a:r>
          </a:p>
          <a:p>
            <a:pPr>
              <a:defRPr sz="1800"/>
            </a:pPr>
            <a:r>
              <a:t>Dataset: FMUCD (Facilities Maintenance University of California Dataset)</a:t>
            </a:r>
          </a:p>
          <a:p>
            <a:pPr lvl="1">
              <a:defRPr sz="1800"/>
            </a:pPr>
            <a:r>
              <a:t>1.4 GB, 120,000+ work orders</a:t>
            </a:r>
          </a:p>
          <a:p>
            <a:pPr lvl="1">
              <a:defRPr sz="1800"/>
            </a:pPr>
            <a:r>
              <a:t>Covers 2012-2020, Multiple universities</a:t>
            </a:r>
          </a:p>
          <a:p>
            <a:pPr>
              <a:defRPr sz="1800"/>
            </a:pPr>
            <a:r>
              <a:t>Four Major Features Implemented:</a:t>
            </a:r>
          </a:p>
          <a:p>
            <a:pPr lvl="1">
              <a:defRPr sz="1800"/>
            </a:pPr>
            <a:r>
              <a:t>1. SHAP-based Explainability Dashboard</a:t>
            </a:r>
          </a:p>
          <a:p>
            <a:pPr lvl="1">
              <a:defRPr sz="1800"/>
            </a:pPr>
            <a:r>
              <a:t>2. BERTopic-powered Defect Intelligence</a:t>
            </a:r>
          </a:p>
          <a:p>
            <a:pPr lvl="1">
              <a:defRPr sz="1800"/>
            </a:pPr>
            <a:r>
              <a:t>3. Financial Cost Analysis Dashboard</a:t>
            </a:r>
          </a:p>
          <a:p>
            <a:pPr lvl="1">
              <a:defRPr sz="1800"/>
            </a:pPr>
            <a:r>
              <a:t>4. AI Chatbot Assistant (Planned)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Feature 1: Explainability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SHAP-Based Feature Attribution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Built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Problem: Black-box ML models lack trust</a:t>
            </a:r>
          </a:p>
          <a:p>
            <a:pPr lvl="1">
              <a:defRPr sz="1800"/>
            </a:pPr>
            <a:r>
              <a:t>Facilities managers need to know WHY a building was flagged as high-risk</a:t>
            </a:r>
          </a:p>
          <a:p>
            <a:pPr lvl="1">
              <a:defRPr sz="1800"/>
            </a:pPr>
            <a:r>
              <a:t>Auditors require justification for budget allocations</a:t>
            </a:r>
          </a:p>
          <a:p>
            <a:pPr>
              <a:defRPr sz="1800"/>
            </a:pPr>
            <a:r>
              <a:t>Solution: SHAP (SHapley Additive exPlanations)</a:t>
            </a:r>
          </a:p>
          <a:p>
            <a:pPr lvl="1">
              <a:defRPr sz="1800"/>
            </a:pPr>
            <a:r>
              <a:t>Nobel Prize-winning game theory approach</a:t>
            </a:r>
          </a:p>
          <a:p>
            <a:pPr lvl="1">
              <a:defRPr sz="1800"/>
            </a:pPr>
            <a:r>
              <a:t>Provides local &amp; global feature attributions</a:t>
            </a:r>
          </a:p>
          <a:p>
            <a:pPr>
              <a:defRPr sz="1800"/>
            </a:pPr>
            <a:r>
              <a:t>Answers: 'Why did the model predict high UPM risk for Building A050 in Jan 2019?'</a:t>
            </a:r>
          </a:p>
          <a:p>
            <a:pPr>
              <a:defRPr sz="1800"/>
            </a:pPr>
            <a:r>
              <a:t>Business Impact:</a:t>
            </a:r>
          </a:p>
          <a:p>
            <a:pPr lvl="1">
              <a:defRPr sz="1800"/>
            </a:pPr>
            <a:r>
              <a:t>Enables data-driven maintenance scheduling</a:t>
            </a:r>
          </a:p>
          <a:p>
            <a:pPr lvl="1">
              <a:defRPr sz="1800"/>
            </a:pPr>
            <a:r>
              <a:t>Builds stakeholder trust in AI 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Explainability: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Source: FMUCD (Filtered to University 1 / Canada)</a:t>
            </a:r>
          </a:p>
          <a:p>
            <a:pPr>
              <a:defRPr sz="1800"/>
            </a:pPr>
            <a:r>
              <a:t>Why University 1?</a:t>
            </a:r>
          </a:p>
          <a:p>
            <a:pPr lvl="1">
              <a:defRPr sz="1800"/>
            </a:pPr>
            <a:r>
              <a:t>95.6% FCI (Facility Condition Index) completeness</a:t>
            </a:r>
          </a:p>
          <a:p>
            <a:pPr lvl="1">
              <a:defRPr sz="1800"/>
            </a:pPr>
            <a:r>
              <a:t>100% weather data coverage</a:t>
            </a:r>
          </a:p>
          <a:p>
            <a:pPr lvl="1">
              <a:defRPr sz="1800"/>
            </a:pPr>
            <a:r>
              <a:t>Best data quality among all universities</a:t>
            </a:r>
          </a:p>
          <a:p>
            <a:pPr>
              <a:defRPr sz="1800"/>
            </a:pPr>
            <a:r>
              <a:t>Final Dataset: 54,269 rows × 56 columns</a:t>
            </a:r>
          </a:p>
          <a:p>
            <a:pPr lvl="1">
              <a:defRPr sz="1800"/>
            </a:pPr>
            <a:r>
              <a:t>Aggregation: Building × Subsystem × Month</a:t>
            </a:r>
          </a:p>
          <a:p>
            <a:pPr lvl="1">
              <a:defRPr sz="1800"/>
            </a:pPr>
            <a:r>
              <a:t>Time span: 2012-12 to 2020-01</a:t>
            </a:r>
          </a:p>
          <a:p>
            <a:pPr>
              <a:defRPr sz="1800"/>
            </a:pPr>
            <a:r>
              <a:t>Output Format: Parquet (columnar storage for performance)</a:t>
            </a:r>
          </a:p>
          <a:p>
            <a:pPr lvl="1">
              <a:defRPr sz="1800"/>
            </a:pPr>
            <a:r>
              <a:t>prepared_data.parquet (~300 MB)</a:t>
            </a:r>
          </a:p>
          <a:p>
            <a:pPr lvl="1">
              <a:defRPr sz="1800"/>
            </a:pPr>
            <a:r>
              <a:t>shap_values.parquet (~200 MB, pre-computed)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Explainability: Data Filtering &amp;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1: University Filtering</a:t>
            </a:r>
          </a:p>
          <a:p>
            <a:pPr lvl="1">
              <a:defRPr sz="1800"/>
            </a:pPr>
            <a:r>
              <a:t>Filter to University 1 (Canada) only</a:t>
            </a:r>
          </a:p>
          <a:p>
            <a:pPr>
              <a:defRPr sz="1800"/>
            </a:pPr>
            <a:r>
              <a:t>Step 2: Temporal Aggregation</a:t>
            </a:r>
          </a:p>
          <a:p>
            <a:pPr lvl="1">
              <a:defRPr sz="1800"/>
            </a:pPr>
            <a:r>
              <a:t>Group work orders by Building × Subsystem × Month</a:t>
            </a:r>
          </a:p>
          <a:p>
            <a:pPr>
              <a:defRPr sz="1800"/>
            </a:pPr>
            <a:r>
              <a:t>Step 3: Label Creation</a:t>
            </a:r>
          </a:p>
          <a:p>
            <a:pPr lvl="1">
              <a:defRPr sz="1800"/>
            </a:pPr>
            <a:r>
              <a:t>Target: UPM (Unplanned Preventive Maintenance) occurrence</a:t>
            </a:r>
          </a:p>
          <a:p>
            <a:pPr lvl="1">
              <a:defRPr sz="1800"/>
            </a:pPr>
            <a:r>
              <a:t>Binary: 1 if any UPM work order in that month, else 0</a:t>
            </a:r>
          </a:p>
          <a:p>
            <a:pPr>
              <a:defRPr sz="1800"/>
            </a:pPr>
            <a:r>
              <a:t>Step 4: Feature Engineering (44 features)</a:t>
            </a:r>
          </a:p>
          <a:p>
            <a:pPr lvl="1">
              <a:defRPr sz="1800"/>
            </a:pPr>
            <a:r>
              <a:t>Temporal: month_sin, month_cos, season</a:t>
            </a:r>
          </a:p>
          <a:p>
            <a:pPr lvl="1">
              <a:defRPr sz="1800"/>
            </a:pPr>
            <a:r>
              <a:t>Weather: temp, humidity, precipitation, snow, cloudness (7)</a:t>
            </a:r>
          </a:p>
          <a:p>
            <a:pPr lvl="1">
              <a:defRPr sz="1800"/>
            </a:pPr>
            <a:r>
              <a:t>Building: FCI, age, size (3)</a:t>
            </a:r>
          </a:p>
          <a:p>
            <a:pPr lvl="1">
              <a:defRPr sz="1800"/>
            </a:pPr>
            <a:r>
              <a:t>Lag features: upm_last_1m, 3m, 6m, months_since_upm (4)</a:t>
            </a:r>
          </a:p>
          <a:p>
            <a:pPr lvl="1">
              <a:defRPr sz="1800"/>
            </a:pPr>
            <a:r>
              <a:t>Work order metrics: labor_hours, duration, cost (5)</a:t>
            </a:r>
          </a:p>
          <a:p>
            <a:pPr lvl="1">
              <a:defRPr sz="1800"/>
            </a:pPr>
            <a:r>
              <a:t>Subsystem one-hot encoding (22)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Explainability: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Algorithm: XGBoost Binary Classifier</a:t>
            </a:r>
          </a:p>
          <a:p>
            <a:pPr lvl="1">
              <a:defRPr sz="1800"/>
            </a:pPr>
            <a:r>
              <a:t>Objective: binary:logistic (predicts UPM probability)</a:t>
            </a:r>
          </a:p>
          <a:p>
            <a:pPr>
              <a:defRPr sz="1800"/>
            </a:pPr>
            <a:r>
              <a:t>Hyperparameters:</a:t>
            </a:r>
          </a:p>
          <a:p>
            <a:pPr lvl="1">
              <a:defRPr sz="1800"/>
            </a:pPr>
            <a:r>
              <a:t>max_depth=6, learning_rate=0.05, n_estimators=300</a:t>
            </a:r>
          </a:p>
          <a:p>
            <a:pPr lvl="1">
              <a:defRPr sz="1800"/>
            </a:pPr>
            <a:r>
              <a:t>scale_pos_weight: handles 36% class imbalance</a:t>
            </a:r>
          </a:p>
          <a:p>
            <a:pPr lvl="1">
              <a:defRPr sz="1800"/>
            </a:pPr>
            <a:r>
              <a:t>subsample=0.8, colsample_bytree=0.8 (regularization)</a:t>
            </a:r>
          </a:p>
          <a:p>
            <a:pPr>
              <a:defRPr sz="1800"/>
            </a:pPr>
            <a:r>
              <a:t>Training Split: Time-based (no random split)</a:t>
            </a:r>
          </a:p>
          <a:p>
            <a:pPr lvl="1">
              <a:defRPr sz="1800"/>
            </a:pPr>
            <a:r>
              <a:t>Train: 2012-12 → 2018-08 (43,415 rows, 80%)</a:t>
            </a:r>
          </a:p>
          <a:p>
            <a:pPr lvl="1">
              <a:defRPr sz="1800"/>
            </a:pPr>
            <a:r>
              <a:t>Test: 2018-09 → 2020-01 (10,854 rows, 20%)</a:t>
            </a:r>
          </a:p>
          <a:p>
            <a:pPr>
              <a:defRPr sz="1800"/>
            </a:pPr>
            <a:r>
              <a:t>Performance:</a:t>
            </a:r>
          </a:p>
          <a:p>
            <a:pPr lvl="1">
              <a:defRPr sz="1800"/>
            </a:pPr>
            <a:r>
              <a:t>Train AUC: 0.9628</a:t>
            </a:r>
          </a:p>
          <a:p>
            <a:pPr lvl="1">
              <a:defRPr sz="1800"/>
            </a:pPr>
            <a:r>
              <a:t>Test AUC: 0.9431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Explainability: Label Leakage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Critical Issue Identified &amp; Fixed:</a:t>
            </a:r>
          </a:p>
          <a:p>
            <a:pPr>
              <a:defRPr sz="1800"/>
            </a:pPr>
            <a:r>
              <a:t>1. months_since_upm Off-by-One Bug</a:t>
            </a:r>
          </a:p>
          <a:p>
            <a:pPr lvl="1">
              <a:defRPr sz="1800"/>
            </a:pPr>
            <a:r>
              <a:t>Before: Updated last_idx BEFORE appending → perfect correlation</a:t>
            </a:r>
          </a:p>
          <a:p>
            <a:pPr lvl="1">
              <a:defRPr sz="1800"/>
            </a:pPr>
            <a:r>
              <a:t>After: Compute result first, THEN update → legitimate signal</a:t>
            </a:r>
          </a:p>
          <a:p>
            <a:pPr lvl="1">
              <a:defRPr sz="1800"/>
            </a:pPr>
            <a:r>
              <a:t>Impact: Test AUC 1.0000 (leak) → 0.9431 (legitimate)</a:t>
            </a:r>
          </a:p>
          <a:p>
            <a:pPr>
              <a:defRPr sz="1800"/>
            </a:pPr>
            <a:r>
              <a:t>2. WOPriority Exclusion</a:t>
            </a:r>
          </a:p>
          <a:p>
            <a:pPr lvl="1">
              <a:defRPr sz="1800"/>
            </a:pPr>
            <a:r>
              <a:t>Cross-tab showed 99%+ correlation with UPM/PPM labels</a:t>
            </a:r>
          </a:p>
          <a:p>
            <a:pPr lvl="1">
              <a:defRPr sz="1800"/>
            </a:pPr>
            <a:r>
              <a:t>Never included in features (label leakage)</a:t>
            </a:r>
          </a:p>
          <a:p>
            <a:pPr>
              <a:defRPr sz="1800"/>
            </a:pPr>
            <a:r>
              <a:t>3. Time-Based Validation</a:t>
            </a:r>
          </a:p>
          <a:p>
            <a:pPr lvl="1">
              <a:defRPr sz="1800"/>
            </a:pPr>
            <a:r>
              <a:t>No future data visible during training</a:t>
            </a:r>
          </a:p>
          <a:p>
            <a:pPr lvl="1">
              <a:defRPr sz="1800"/>
            </a:pPr>
            <a:r>
              <a:t>Realistic model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Explainability: SHAP Value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SHAP Library: Python 0.42.0+</a:t>
            </a:r>
          </a:p>
          <a:p>
            <a:pPr>
              <a:defRPr sz="1800"/>
            </a:pPr>
            <a:r>
              <a:t>Method: TreeExplainer (optimized for tree models)</a:t>
            </a:r>
          </a:p>
          <a:p>
            <a:pPr>
              <a:defRPr sz="1800"/>
            </a:pPr>
            <a:r>
              <a:t>Computation Strategy: Offline Pre-computation</a:t>
            </a:r>
          </a:p>
          <a:p>
            <a:pPr lvl="1">
              <a:defRPr sz="1800"/>
            </a:pPr>
            <a:r>
              <a:t>Compute SHAP values for all 54,269 rows during training</a:t>
            </a:r>
          </a:p>
          <a:p>
            <a:pPr lvl="1">
              <a:defRPr sz="1800"/>
            </a:pPr>
            <a:r>
              <a:t>Save to shap_values.parquet (~60 seconds computation time)</a:t>
            </a:r>
          </a:p>
          <a:p>
            <a:pPr lvl="1">
              <a:defRPr sz="1800"/>
            </a:pPr>
            <a:r>
              <a:t>No real-time SHAP computation needed → fast API response</a:t>
            </a:r>
          </a:p>
          <a:p>
            <a:pPr>
              <a:defRPr sz="1800"/>
            </a:pPr>
            <a:r>
              <a:t>Output Files:</a:t>
            </a:r>
          </a:p>
          <a:p>
            <a:pPr lvl="1">
              <a:defRPr sz="1800"/>
            </a:pPr>
            <a:r>
              <a:t>shap_model.pkl (1.1 MB) - Trained XGBoost model</a:t>
            </a:r>
          </a:p>
          <a:p>
            <a:pPr lvl="1">
              <a:defRPr sz="1800"/>
            </a:pPr>
            <a:r>
              <a:t>shap_feature_columns.json - 44 feature names</a:t>
            </a:r>
          </a:p>
          <a:p>
            <a:pPr lvl="1">
              <a:defRPr sz="1800"/>
            </a:pPr>
            <a:r>
              <a:t>shap_expected_value.json - Base value (-0.009 log-odds)</a:t>
            </a:r>
          </a:p>
          <a:p>
            <a:pPr lvl="1">
              <a:defRPr sz="1800"/>
            </a:pPr>
            <a:r>
              <a:t>shap_values.parquet - Pre-computed SHAP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Explainability: Frontend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Technology: React 19.2 + Recharts + Tailwind CSS</a:t>
            </a:r>
          </a:p>
          <a:p>
            <a:pPr>
              <a:defRPr sz="1800"/>
            </a:pPr>
            <a:r>
              <a:t>Components:</a:t>
            </a:r>
          </a:p>
          <a:p>
            <a:pPr lvl="1">
              <a:defRPr sz="1800"/>
            </a:pPr>
            <a:r>
              <a:t>SubsystemCard: Risk badge, explanation, work order history</a:t>
            </a:r>
          </a:p>
          <a:p>
            <a:pPr lvl="1">
              <a:defRPr sz="1800"/>
            </a:pPr>
            <a:r>
              <a:t>ShapChart: Horizontal bar chart (red=increase, green=decrease)</a:t>
            </a:r>
          </a:p>
          <a:p>
            <a:pPr lvl="1">
              <a:defRPr sz="1800"/>
            </a:pPr>
            <a:r>
              <a:t>DefectRecords: This month's + historical UPM descriptions</a:t>
            </a:r>
          </a:p>
          <a:p>
            <a:pPr>
              <a:defRPr sz="1800"/>
            </a:pPr>
            <a:r>
              <a:t>Features:</a:t>
            </a:r>
          </a:p>
          <a:p>
            <a:pPr lvl="1">
              <a:defRPr sz="1800"/>
            </a:pPr>
            <a:r>
              <a:t>Building search with autocomplete</a:t>
            </a:r>
          </a:p>
          <a:p>
            <a:pPr lvl="1">
              <a:defRPr sz="1800"/>
            </a:pPr>
            <a:r>
              <a:t>Year/month dropdowns (populated from available data)</a:t>
            </a:r>
          </a:p>
          <a:p>
            <a:pPr lvl="1">
              <a:defRPr sz="1800"/>
            </a:pPr>
            <a:r>
              <a:t>Risk filter pills (All/High/Medium/Low)</a:t>
            </a:r>
          </a:p>
          <a:p>
            <a:pPr lvl="1">
              <a:defRPr sz="1800"/>
            </a:pPr>
            <a:r>
              <a:t>Stats bar: Total subsystems, high/medium/low counts</a:t>
            </a:r>
          </a:p>
          <a:p>
            <a:pPr>
              <a:defRPr sz="1800"/>
            </a:pPr>
            <a:r>
              <a:t>API Endpoints:</a:t>
            </a:r>
          </a:p>
          <a:p>
            <a:pPr lvl="1">
              <a:defRPr sz="1800"/>
            </a:pPr>
            <a:r>
              <a:t>GET /api/shap/buildings - Building list</a:t>
            </a:r>
          </a:p>
          <a:p>
            <a:pPr lvl="1">
              <a:defRPr sz="1800"/>
            </a:pPr>
            <a:r>
              <a:t>GET /api/shap/explain?building_id&amp;year&amp;month - Full explanation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Explainability: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Global SHAP Summaries</a:t>
            </a:r>
          </a:p>
          <a:p>
            <a:pPr lvl="1">
              <a:defRPr sz="1800"/>
            </a:pPr>
            <a:r>
              <a:t>SHAP summary plots showing top features across all buildings</a:t>
            </a:r>
          </a:p>
          <a:p>
            <a:pPr lvl="1">
              <a:defRPr sz="1800"/>
            </a:pPr>
            <a:r>
              <a:t>Force plots for individual predictions</a:t>
            </a:r>
          </a:p>
          <a:p>
            <a:pPr>
              <a:defRPr sz="1800"/>
            </a:pPr>
            <a:r>
              <a:t>2. What-If Analysis</a:t>
            </a:r>
          </a:p>
          <a:p>
            <a:pPr lvl="1">
              <a:defRPr sz="1800"/>
            </a:pPr>
            <a:r>
              <a:t>Allow users to adjust feature values (e.g., 'What if FCI improved?')</a:t>
            </a:r>
          </a:p>
          <a:p>
            <a:pPr lvl="1">
              <a:defRPr sz="1800"/>
            </a:pPr>
            <a:r>
              <a:t>Real-time SHAP recomputation for hypothetical scenarios</a:t>
            </a:r>
          </a:p>
          <a:p>
            <a:pPr>
              <a:defRPr sz="1800"/>
            </a:pPr>
            <a:r>
              <a:t>3. LLM-Generated Explanations</a:t>
            </a:r>
          </a:p>
          <a:p>
            <a:pPr lvl="1">
              <a:defRPr sz="1800"/>
            </a:pPr>
            <a:r>
              <a:t>Replace rule-based explanations with Claude/GPT narratives</a:t>
            </a:r>
          </a:p>
          <a:p>
            <a:pPr>
              <a:defRPr sz="1800"/>
            </a:pPr>
            <a:r>
              <a:t>4. Multi-University Expansion</a:t>
            </a:r>
          </a:p>
          <a:p>
            <a:pPr lvl="1">
              <a:defRPr sz="1800"/>
            </a:pPr>
            <a:r>
              <a:t>Train models for all universities in FMUCD</a:t>
            </a:r>
          </a:p>
          <a:p>
            <a:pPr>
              <a:defRPr sz="1800"/>
            </a:pPr>
            <a:r>
              <a:t>5. Real-Time Data Integration</a:t>
            </a:r>
          </a:p>
          <a:p>
            <a:pPr lvl="1">
              <a:defRPr sz="1800"/>
            </a:pPr>
            <a:r>
              <a:t>Connect to live CMMS (Computerized Maintenance Mgmt System)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Explainability: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Single University Scope</a:t>
            </a:r>
          </a:p>
          <a:p>
            <a:pPr lvl="1">
              <a:defRPr sz="1800"/>
            </a:pPr>
            <a:r>
              <a:t>Currently limited to University 1 (Canada)</a:t>
            </a:r>
          </a:p>
          <a:p>
            <a:pPr lvl="1">
              <a:defRPr sz="1800"/>
            </a:pPr>
            <a:r>
              <a:t>Other universities have lower data quality</a:t>
            </a:r>
          </a:p>
          <a:p>
            <a:pPr>
              <a:defRPr sz="1800"/>
            </a:pPr>
            <a:r>
              <a:t>2. Historical Data Only</a:t>
            </a:r>
          </a:p>
          <a:p>
            <a:pPr lvl="1">
              <a:defRPr sz="1800"/>
            </a:pPr>
            <a:r>
              <a:t>Trained on 2012-2020 data (no live updates)</a:t>
            </a:r>
          </a:p>
          <a:p>
            <a:pPr>
              <a:defRPr sz="1800"/>
            </a:pPr>
            <a:r>
              <a:t>3. Class Imbalance</a:t>
            </a:r>
          </a:p>
          <a:p>
            <a:pPr lvl="1">
              <a:defRPr sz="1800"/>
            </a:pPr>
            <a:r>
              <a:t>36% UPM prevalence (handled via scale_pos_weight)</a:t>
            </a:r>
          </a:p>
          <a:p>
            <a:pPr>
              <a:defRPr sz="1800"/>
            </a:pPr>
            <a:r>
              <a:t>4. Feature Correlation</a:t>
            </a:r>
          </a:p>
          <a:p>
            <a:pPr lvl="1">
              <a:defRPr sz="1800"/>
            </a:pPr>
            <a:r>
              <a:t>Some features may be correlated (e.g., weather variables)</a:t>
            </a:r>
          </a:p>
          <a:p>
            <a:pPr>
              <a:defRPr sz="1800"/>
            </a:pPr>
            <a:r>
              <a:t>5. Interpretability Assumptions</a:t>
            </a:r>
          </a:p>
          <a:p>
            <a:pPr lvl="1">
              <a:defRPr sz="1800"/>
            </a:pPr>
            <a:r>
              <a:t>SHAP assumes feature independence (Shapley values)</a:t>
            </a:r>
          </a:p>
          <a:p>
            <a:pPr lvl="1">
              <a:defRPr sz="1800"/>
            </a:pPr>
            <a:r>
              <a:t>May not capture complex feature interactions</a:t>
            </a:r>
          </a:p>
          <a:p>
            <a:pPr>
              <a:defRPr sz="1800"/>
            </a:pPr>
            <a:r>
              <a:t>6. Computational Cost</a:t>
            </a:r>
          </a:p>
          <a:p>
            <a:pPr lvl="1">
              <a:defRPr sz="1800"/>
            </a:pPr>
            <a:r>
              <a:t>Pre-computation required for new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Feature 2: Defect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BERTopic-Powered Analytics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Built Defect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Problem: Unstructured Work Order Descriptions</a:t>
            </a:r>
          </a:p>
          <a:p>
            <a:pPr lvl="1">
              <a:defRPr sz="1800"/>
            </a:pPr>
            <a:r>
              <a:t>120,000+ text descriptions (e.g., 'HVAC not working', 'Leak in room 302')</a:t>
            </a:r>
          </a:p>
          <a:p>
            <a:pPr lvl="1">
              <a:defRPr sz="1800"/>
            </a:pPr>
            <a:r>
              <a:t>Manual categorization is time-consuming and inconsistent</a:t>
            </a:r>
          </a:p>
          <a:p>
            <a:pPr>
              <a:defRPr sz="1800"/>
            </a:pPr>
            <a:r>
              <a:t>Solution: BERTopic (BERT + UMAP + HDBSCAN)</a:t>
            </a:r>
          </a:p>
          <a:p>
            <a:pPr lvl="1">
              <a:defRPr sz="1800"/>
            </a:pPr>
            <a:r>
              <a:t>Automatically discovers defect categories from text</a:t>
            </a:r>
          </a:p>
          <a:p>
            <a:pPr lvl="1">
              <a:defRPr sz="1800"/>
            </a:pPr>
            <a:r>
              <a:t>Identified 63 distinct defect types</a:t>
            </a:r>
          </a:p>
          <a:p>
            <a:pPr>
              <a:defRPr sz="1800"/>
            </a:pPr>
            <a:r>
              <a:t>Business Value:</a:t>
            </a:r>
          </a:p>
          <a:p>
            <a:pPr lvl="1">
              <a:defRPr sz="1800"/>
            </a:pPr>
            <a:r>
              <a:t>Identify most frequent defects → prioritize preventive maintenance</a:t>
            </a:r>
          </a:p>
          <a:p>
            <a:pPr lvl="1">
              <a:defRPr sz="1800"/>
            </a:pPr>
            <a:r>
              <a:t>Track cost impact by defect category</a:t>
            </a:r>
          </a:p>
          <a:p>
            <a:pPr lvl="1">
              <a:defRPr sz="1800"/>
            </a:pPr>
            <a:r>
              <a:t>Analyze trends over time (seasonal patterns)</a:t>
            </a:r>
          </a:p>
          <a:p>
            <a:pPr lvl="1">
              <a:defRPr sz="1800"/>
            </a:pPr>
            <a:r>
              <a:t>Building/system-level risk assessment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Analysis: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Source: df_with_topics_IMPROVED.parquet</a:t>
            </a:r>
          </a:p>
          <a:p>
            <a:pPr lvl="1">
              <a:defRPr sz="1800"/>
            </a:pPr>
            <a:r>
              <a:t>120,000+ work orders from FMUCD</a:t>
            </a:r>
          </a:p>
          <a:p>
            <a:pPr>
              <a:defRPr sz="1800"/>
            </a:pPr>
            <a:r>
              <a:t>Columns:</a:t>
            </a:r>
          </a:p>
          <a:p>
            <a:pPr lvl="1">
              <a:defRPr sz="1800"/>
            </a:pPr>
            <a:r>
              <a:t>Work Order ID, Description, System, Building, Date</a:t>
            </a:r>
          </a:p>
          <a:p>
            <a:pPr lvl="1">
              <a:defRPr sz="1800"/>
            </a:pPr>
            <a:r>
              <a:t>BERTopic Topic ID (0-62, 63 categories)</a:t>
            </a:r>
          </a:p>
          <a:p>
            <a:pPr lvl="1">
              <a:defRPr sz="1800"/>
            </a:pPr>
            <a:r>
              <a:t>Priority, Duration, Cost (synthesized)</a:t>
            </a:r>
          </a:p>
          <a:p>
            <a:pPr>
              <a:defRPr sz="1800"/>
            </a:pPr>
            <a:r>
              <a:t>Topic Examples:</a:t>
            </a:r>
          </a:p>
          <a:p>
            <a:pPr lvl="1">
              <a:defRPr sz="1800"/>
            </a:pPr>
            <a:r>
              <a:t>Topic 19: Thermostat Malfunction (keywords: thermostat, temp, control)</a:t>
            </a:r>
          </a:p>
          <a:p>
            <a:pPr lvl="1">
              <a:defRPr sz="1800"/>
            </a:pPr>
            <a:r>
              <a:t>Topic 7: Lighting Issues (keywords: light, bulb, fixture)</a:t>
            </a:r>
          </a:p>
          <a:p>
            <a:pPr lvl="1">
              <a:defRPr sz="1800"/>
            </a:pPr>
            <a:r>
              <a:t>Topic 31: Plumbing Leaks (keywords: leak, water, pipe)</a:t>
            </a:r>
          </a:p>
          <a:p>
            <a:pPr>
              <a:defRPr sz="1800"/>
            </a:pPr>
            <a:r>
              <a:t>Topic Mapping File: topic_info_IMPROVED.csv</a:t>
            </a:r>
          </a:p>
          <a:p>
            <a:pPr lvl="1">
              <a:defRPr sz="1800"/>
            </a:pPr>
            <a:r>
              <a:t>Contains topic ID, representative docs, keywords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Analysis: Data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1: BERTopic Training (Preprocessing Phase)</a:t>
            </a:r>
          </a:p>
          <a:p>
            <a:pPr lvl="1">
              <a:defRPr sz="1800"/>
            </a:pPr>
            <a:r>
              <a:t>Text embeddings: all-MiniLM-L6-v2 (BERT)</a:t>
            </a:r>
          </a:p>
          <a:p>
            <a:pPr lvl="1">
              <a:defRPr sz="1800"/>
            </a:pPr>
            <a:r>
              <a:t>Dimensionality reduction: UMAP</a:t>
            </a:r>
          </a:p>
          <a:p>
            <a:pPr lvl="1">
              <a:defRPr sz="1800"/>
            </a:pPr>
            <a:r>
              <a:t>Clustering: HDBSCAN (density-based)</a:t>
            </a:r>
          </a:p>
          <a:p>
            <a:pPr lvl="1">
              <a:defRPr sz="1800"/>
            </a:pPr>
            <a:r>
              <a:t>Output: 63 topic clusters</a:t>
            </a:r>
          </a:p>
          <a:p>
            <a:pPr>
              <a:defRPr sz="1800"/>
            </a:pPr>
            <a:r>
              <a:t>Step 2: Aggregation (Performance Optimization)</a:t>
            </a:r>
          </a:p>
          <a:p>
            <a:pPr lvl="1">
              <a:defRPr sz="1800"/>
            </a:pPr>
            <a:r>
              <a:t>Pre-compute 5 aggregated parquet files:</a:t>
            </a:r>
          </a:p>
          <a:p>
            <a:pPr lvl="1">
              <a:defRPr sz="1800"/>
            </a:pPr>
            <a:r>
              <a:t>  → defect_summary.parquet (category-level)</a:t>
            </a:r>
          </a:p>
          <a:p>
            <a:pPr lvl="1">
              <a:defRPr sz="1800"/>
            </a:pPr>
            <a:r>
              <a:t>  → system_defect.parquet (system × defect breakdown)</a:t>
            </a:r>
          </a:p>
          <a:p>
            <a:pPr lvl="1">
              <a:defRPr sz="1800"/>
            </a:pPr>
            <a:r>
              <a:t>  → building_defect.parquet (building-level metrics)</a:t>
            </a:r>
          </a:p>
          <a:p>
            <a:pPr lvl="1">
              <a:defRPr sz="1800"/>
            </a:pPr>
            <a:r>
              <a:t>  → monthly_defect.parquet (time series)</a:t>
            </a:r>
          </a:p>
          <a:p>
            <a:pPr lvl="1">
              <a:defRPr sz="1800"/>
            </a:pPr>
            <a:r>
              <a:t>  → impact_summary.parquet (impact rankings)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Analysis: Cost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Note: FMUCD does not include actual cost data</a:t>
            </a:r>
          </a:p>
          <a:p>
            <a:pPr>
              <a:defRPr sz="1800"/>
            </a:pPr>
            <a:r>
              <a:t>Synthesized Cost Model:</a:t>
            </a:r>
          </a:p>
          <a:p>
            <a:pPr lvl="1">
              <a:defRPr sz="1800"/>
            </a:pPr>
            <a:r>
              <a:t>base_costs = {'hvac': $800, 'lighting': $150, 'plumbing': $600, ...}</a:t>
            </a:r>
          </a:p>
          <a:p>
            <a:pPr lvl="1">
              <a:defRPr sz="1800"/>
            </a:pPr>
            <a:r>
              <a:t>cost = base_cost × priority_multiplier × duration_multiplier × random(0.8, 1.2)</a:t>
            </a:r>
          </a:p>
          <a:p>
            <a:pPr>
              <a:defRPr sz="1800"/>
            </a:pPr>
            <a:r>
              <a:t>Priority Multipliers:</a:t>
            </a:r>
          </a:p>
          <a:p>
            <a:pPr lvl="1">
              <a:defRPr sz="1800"/>
            </a:pPr>
            <a:r>
              <a:t>Critical: 2.0x, High: 1.5x, Medium: 1.0x, Low: 0.7x</a:t>
            </a:r>
          </a:p>
          <a:p>
            <a:pPr>
              <a:defRPr sz="1800"/>
            </a:pPr>
            <a:r>
              <a:t>Duration Factor:</a:t>
            </a:r>
          </a:p>
          <a:p>
            <a:pPr lvl="1">
              <a:defRPr sz="1800"/>
            </a:pPr>
            <a:r>
              <a:t>Long repairs (&gt;8 hours) get higher costs</a:t>
            </a:r>
          </a:p>
          <a:p>
            <a:pPr>
              <a:defRPr sz="1800"/>
            </a:pPr>
            <a:r>
              <a:t>Realism:</a:t>
            </a:r>
          </a:p>
          <a:p>
            <a:pPr lvl="1">
              <a:defRPr sz="1800"/>
            </a:pPr>
            <a:r>
              <a:t>Approximates industry-standard costs</a:t>
            </a:r>
          </a:p>
          <a:p>
            <a:pPr lvl="1">
              <a:defRPr sz="1800"/>
            </a:pPr>
            <a:r>
              <a:t>Useful for demonstration and training purposes</a:t>
            </a:r>
          </a:p>
          <a:p>
            <a:pPr>
              <a:defRPr sz="1800"/>
            </a:pPr>
            <a:r>
              <a:t>Limitation: Not actual university expenditure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Analysis: BERTopic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Algorithm: BERTopic 0.15.0+</a:t>
            </a:r>
          </a:p>
          <a:p>
            <a:pPr>
              <a:defRPr sz="1800"/>
            </a:pPr>
            <a:r>
              <a:t>Components:</a:t>
            </a:r>
          </a:p>
          <a:p>
            <a:pPr lvl="1">
              <a:defRPr sz="1800"/>
            </a:pPr>
            <a:r>
              <a:t>1. Sentence Transformer: all-MiniLM-L6-v2</a:t>
            </a:r>
          </a:p>
          <a:p>
            <a:pPr lvl="1">
              <a:defRPr sz="1800"/>
            </a:pPr>
            <a:r>
              <a:t>   → Converts text to 384-dim embeddings</a:t>
            </a:r>
          </a:p>
          <a:p>
            <a:pPr lvl="1">
              <a:defRPr sz="1800"/>
            </a:pPr>
            <a:r>
              <a:t>2. UMAP: Dimensionality reduction to 5 dimensions</a:t>
            </a:r>
          </a:p>
          <a:p>
            <a:pPr lvl="1">
              <a:defRPr sz="1800"/>
            </a:pPr>
            <a:r>
              <a:t>3. HDBSCAN: Density-based clustering</a:t>
            </a:r>
          </a:p>
          <a:p>
            <a:pPr lvl="1">
              <a:defRPr sz="1800"/>
            </a:pPr>
            <a:r>
              <a:t>   → min_cluster_size=10, metric='euclidean'</a:t>
            </a:r>
          </a:p>
          <a:p>
            <a:pPr lvl="1">
              <a:defRPr sz="1800"/>
            </a:pPr>
            <a:r>
              <a:t>4. c-TF-IDF: Topic keyword extraction</a:t>
            </a:r>
          </a:p>
          <a:p>
            <a:pPr>
              <a:defRPr sz="1800"/>
            </a:pPr>
            <a:r>
              <a:t>Output: 63 Topics + 1 Outlier Topic (-1)</a:t>
            </a:r>
          </a:p>
          <a:p>
            <a:pPr>
              <a:defRPr sz="1800"/>
            </a:pPr>
            <a:r>
              <a:t>Topic Quality:</a:t>
            </a:r>
          </a:p>
          <a:p>
            <a:pPr lvl="1">
              <a:defRPr sz="1800"/>
            </a:pPr>
            <a:r>
              <a:t>Coherence score: 0.52 (good for maintenance text)</a:t>
            </a:r>
          </a:p>
          <a:p>
            <a:pPr lvl="1">
              <a:defRPr sz="1800"/>
            </a:pPr>
            <a:r>
              <a:t>Manual validation: 85% of topics semantically meaningful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Analysis: Dashboard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Technology: React + Recharts + Canvas API</a:t>
            </a:r>
          </a:p>
          <a:p>
            <a:pPr>
              <a:defRPr sz="1800"/>
            </a:pPr>
            <a:r>
              <a:t>9 Interactive Components:</a:t>
            </a:r>
          </a:p>
          <a:p>
            <a:pPr lvl="1">
              <a:defRPr sz="1800"/>
            </a:pPr>
            <a:r>
              <a:t>1. FiltersBar: University, Building, Defect Type, System, Date</a:t>
            </a:r>
          </a:p>
          <a:p>
            <a:pPr lvl="1">
              <a:defRPr sz="1800"/>
            </a:pPr>
            <a:r>
              <a:t>2. KPI Cards: Total, Most Frequent, Highest Cost, Most Affected</a:t>
            </a:r>
          </a:p>
          <a:p>
            <a:pPr lvl="1">
              <a:defRPr sz="1800"/>
            </a:pPr>
            <a:r>
              <a:t>3. DefectBarChart: Top 10 by frequency (horizontal bars)</a:t>
            </a:r>
          </a:p>
          <a:p>
            <a:pPr lvl="1">
              <a:defRPr sz="1800"/>
            </a:pPr>
            <a:r>
              <a:t>4. CostBarChart: Top 10 by cost impact</a:t>
            </a:r>
          </a:p>
          <a:p>
            <a:pPr lvl="1">
              <a:defRPr sz="1800"/>
            </a:pPr>
            <a:r>
              <a:t>5. SystemHeatmap: Systems × Defects matrix (canvas-rendered)</a:t>
            </a:r>
          </a:p>
          <a:p>
            <a:pPr lvl="1">
              <a:defRPr sz="1800"/>
            </a:pPr>
            <a:r>
              <a:t>6. DefectTable: Drill-down with search, sort, pagination</a:t>
            </a:r>
          </a:p>
          <a:p>
            <a:pPr lvl="1">
              <a:defRPr sz="1800"/>
            </a:pPr>
            <a:r>
              <a:t>7. ImpactRanking: Ranked by Cost × Frequency × Priority</a:t>
            </a:r>
          </a:p>
          <a:p>
            <a:pPr lvl="1">
              <a:defRPr sz="1800"/>
            </a:pPr>
            <a:r>
              <a:t>8. BuildingRiskView: Top problematic buildings</a:t>
            </a:r>
          </a:p>
          <a:p>
            <a:pPr lvl="1">
              <a:defRPr sz="1800"/>
            </a:pPr>
            <a:r>
              <a:t>9. MonthlyTrendsChart: Multi-line time series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Analysis: 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6 FastAPI Endpoints:</a:t>
            </a:r>
          </a:p>
          <a:p>
            <a:pPr lvl="1">
              <a:defRPr sz="1800"/>
            </a:pPr>
            <a:r>
              <a:t>GET /api/defect-intelligence - Raw work order data + filters</a:t>
            </a:r>
          </a:p>
          <a:p>
            <a:pPr lvl="1">
              <a:defRPr sz="1800"/>
            </a:pPr>
            <a:r>
              <a:t>GET /api/defects/summary - Category-level aggregates</a:t>
            </a:r>
          </a:p>
          <a:p>
            <a:pPr lvl="1">
              <a:defRPr sz="1800"/>
            </a:pPr>
            <a:r>
              <a:t>GET /api/defects/by-system - System breakdown</a:t>
            </a:r>
          </a:p>
          <a:p>
            <a:pPr lvl="1">
              <a:defRPr sz="1800"/>
            </a:pPr>
            <a:r>
              <a:t>GET /api/defects/by-building - Building risk scores</a:t>
            </a:r>
          </a:p>
          <a:p>
            <a:pPr lvl="1">
              <a:defRPr sz="1800"/>
            </a:pPr>
            <a:r>
              <a:t>GET /api/defects/monthly - Time series trends</a:t>
            </a:r>
          </a:p>
          <a:p>
            <a:pPr lvl="1">
              <a:defRPr sz="1800"/>
            </a:pPr>
            <a:r>
              <a:t>GET /api/defects/impact - Impact-ranked categories</a:t>
            </a:r>
          </a:p>
          <a:p>
            <a:pPr>
              <a:defRPr sz="1800"/>
            </a:pPr>
            <a:r>
              <a:t>Performance Optimization:</a:t>
            </a:r>
          </a:p>
          <a:p>
            <a:pPr lvl="1">
              <a:defRPr sz="1800"/>
            </a:pPr>
            <a:r>
              <a:t>All endpoints use pre-computed parquet files</a:t>
            </a:r>
          </a:p>
          <a:p>
            <a:pPr lvl="1">
              <a:defRPr sz="1800"/>
            </a:pPr>
            <a:r>
              <a:t>Response time: &lt;200ms for typical queries</a:t>
            </a:r>
          </a:p>
          <a:p>
            <a:pPr lvl="1">
              <a:defRPr sz="1800"/>
            </a:pPr>
            <a:r>
              <a:t>Filter caching: Pandas boolean indexing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Analysis: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Root Cause Analysis</a:t>
            </a:r>
          </a:p>
          <a:p>
            <a:pPr lvl="1">
              <a:defRPr sz="1800"/>
            </a:pPr>
            <a:r>
              <a:t>Link defect clusters to root causes (e.g., age, weather)</a:t>
            </a:r>
          </a:p>
          <a:p>
            <a:pPr>
              <a:defRPr sz="1800"/>
            </a:pPr>
            <a:r>
              <a:t>2. Predictive Defect Forecasting</a:t>
            </a:r>
          </a:p>
          <a:p>
            <a:pPr lvl="1">
              <a:defRPr sz="1800"/>
            </a:pPr>
            <a:r>
              <a:t>Train time series models (LSTM, Prophet) on monthly trends</a:t>
            </a:r>
          </a:p>
          <a:p>
            <a:pPr lvl="1">
              <a:defRPr sz="1800"/>
            </a:pPr>
            <a:r>
              <a:t>Predict: 'Topic 19 (Thermostat) will spike next winter'</a:t>
            </a:r>
          </a:p>
          <a:p>
            <a:pPr>
              <a:defRPr sz="1800"/>
            </a:pPr>
            <a:r>
              <a:t>3. Defect Co-occurrence Analysis</a:t>
            </a:r>
          </a:p>
          <a:p>
            <a:pPr lvl="1">
              <a:defRPr sz="1800"/>
            </a:pPr>
            <a:r>
              <a:t>Identify defects that often occur together</a:t>
            </a:r>
          </a:p>
          <a:p>
            <a:pPr>
              <a:defRPr sz="1800"/>
            </a:pPr>
            <a:r>
              <a:t>4. Topic Refinement</a:t>
            </a:r>
          </a:p>
          <a:p>
            <a:pPr lvl="1">
              <a:defRPr sz="1800"/>
            </a:pPr>
            <a:r>
              <a:t>Manual review and merging of similar topics</a:t>
            </a:r>
          </a:p>
          <a:p>
            <a:pPr>
              <a:defRPr sz="1800"/>
            </a:pPr>
            <a:r>
              <a:t>5. Real-Time Topic Assignment</a:t>
            </a:r>
          </a:p>
          <a:p>
            <a:pPr lvl="1">
              <a:defRPr sz="1800"/>
            </a:pPr>
            <a:r>
              <a:t>New work orders auto-assigned to topics via embeddings</a:t>
            </a:r>
          </a:p>
          <a:p>
            <a:pPr>
              <a:defRPr sz="1800"/>
            </a:pPr>
            <a:r>
              <a:t>6. Integration with CMMS</a:t>
            </a:r>
          </a:p>
          <a:p>
            <a:pPr lvl="1">
              <a:defRPr sz="1800"/>
            </a:pPr>
            <a:r>
              <a:t>Export insights to Maximo, SAP PM, or other CMMS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Analysis: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Synthetic Cost Data</a:t>
            </a:r>
          </a:p>
          <a:p>
            <a:pPr lvl="1">
              <a:defRPr sz="1800"/>
            </a:pPr>
            <a:r>
              <a:t>Costs are approximated, not actual university expenses</a:t>
            </a:r>
          </a:p>
          <a:p>
            <a:pPr>
              <a:defRPr sz="1800"/>
            </a:pPr>
            <a:r>
              <a:t>2. Static Topic Model</a:t>
            </a:r>
          </a:p>
          <a:p>
            <a:pPr lvl="1">
              <a:defRPr sz="1800"/>
            </a:pPr>
            <a:r>
              <a:t>Topics trained once during preprocessing</a:t>
            </a:r>
          </a:p>
          <a:p>
            <a:pPr lvl="1">
              <a:defRPr sz="1800"/>
            </a:pPr>
            <a:r>
              <a:t>New defect types not automatically detected</a:t>
            </a:r>
          </a:p>
          <a:p>
            <a:pPr>
              <a:defRPr sz="1800"/>
            </a:pPr>
            <a:r>
              <a:t>3. Topic Ambiguity</a:t>
            </a:r>
          </a:p>
          <a:p>
            <a:pPr lvl="1">
              <a:defRPr sz="1800"/>
            </a:pPr>
            <a:r>
              <a:t>~15% of work orders assigned to outlier topic (-1)</a:t>
            </a:r>
          </a:p>
          <a:p>
            <a:pPr>
              <a:defRPr sz="1800"/>
            </a:pPr>
            <a:r>
              <a:t>4. No Causal Inference</a:t>
            </a:r>
          </a:p>
          <a:p>
            <a:pPr lvl="1">
              <a:defRPr sz="1800"/>
            </a:pPr>
            <a:r>
              <a:t>Dashboard shows correlations, not causation</a:t>
            </a:r>
          </a:p>
          <a:p>
            <a:pPr>
              <a:defRPr sz="1800"/>
            </a:pPr>
            <a:r>
              <a:t>5. Text Quality</a:t>
            </a:r>
          </a:p>
          <a:p>
            <a:pPr lvl="1">
              <a:defRPr sz="1800"/>
            </a:pPr>
            <a:r>
              <a:t>Relies on well-written work order descriptions</a:t>
            </a:r>
          </a:p>
          <a:p>
            <a:pPr lvl="1">
              <a:defRPr sz="1800"/>
            </a:pPr>
            <a:r>
              <a:t>Abbreviations and typos may reduce accuracy</a:t>
            </a:r>
          </a:p>
          <a:p>
            <a:pPr>
              <a:defRPr sz="1800"/>
            </a:pPr>
            <a:r>
              <a:t>6. Computational Cost</a:t>
            </a:r>
          </a:p>
          <a:p>
            <a:pPr lvl="1">
              <a:defRPr sz="1800"/>
            </a:pPr>
            <a:r>
              <a:t>BERTopic training takes ~30 min on 120K documents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Feature 3: Cost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Financial Analytics for PPM vs UPM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Built Cost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Problem: Lack of Financial Visibility</a:t>
            </a:r>
          </a:p>
          <a:p>
            <a:pPr lvl="1">
              <a:defRPr sz="1800"/>
            </a:pPr>
            <a:r>
              <a:t>Maintenance budgets often exceed forecasts</a:t>
            </a:r>
          </a:p>
          <a:p>
            <a:pPr lvl="1">
              <a:defRPr sz="1800"/>
            </a:pPr>
            <a:r>
              <a:t>Difficult to quantify PPM vs UPM cost trade-offs</a:t>
            </a:r>
          </a:p>
          <a:p>
            <a:pPr>
              <a:defRPr sz="1800"/>
            </a:pPr>
            <a:r>
              <a:t>Solution: Comprehensive Cost Analytics</a:t>
            </a:r>
          </a:p>
          <a:p>
            <a:pPr lvl="1">
              <a:defRPr sz="1800"/>
            </a:pPr>
            <a:r>
              <a:t>Compare Planned (PPM) vs Unplanned (UPM) expenses</a:t>
            </a:r>
          </a:p>
          <a:p>
            <a:pPr lvl="1">
              <a:defRPr sz="1800"/>
            </a:pPr>
            <a:r>
              <a:t>Identify cost outliers (anomaly detection)</a:t>
            </a:r>
          </a:p>
          <a:p>
            <a:pPr lvl="1">
              <a:defRPr sz="1800"/>
            </a:pPr>
            <a:r>
              <a:t>Track trends over time</a:t>
            </a:r>
          </a:p>
          <a:p>
            <a:pPr>
              <a:defRPr sz="1800"/>
            </a:pPr>
            <a:r>
              <a:t>Business Value:</a:t>
            </a:r>
          </a:p>
          <a:p>
            <a:pPr lvl="1">
              <a:defRPr sz="1800"/>
            </a:pPr>
            <a:r>
              <a:t>ROI justification for preventive maintenance programs</a:t>
            </a:r>
          </a:p>
          <a:p>
            <a:pPr lvl="1">
              <a:defRPr sz="1800"/>
            </a:pPr>
            <a:r>
              <a:t>Budget forecasting and variance analysis</a:t>
            </a:r>
          </a:p>
          <a:p>
            <a:pPr lvl="1">
              <a:defRPr sz="1800"/>
            </a:pPr>
            <a:r>
              <a:t>System-level cost attribution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Dashboard: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Source: Synthesized from FMUCD work orders</a:t>
            </a:r>
          </a:p>
          <a:p>
            <a:pPr>
              <a:defRPr sz="1800"/>
            </a:pPr>
            <a:r>
              <a:t>Note: FMUCD lacks actual cost data</a:t>
            </a:r>
          </a:p>
          <a:p>
            <a:pPr>
              <a:defRPr sz="1800"/>
            </a:pPr>
            <a:r>
              <a:t>Mock Data Generation (Frontend Hook):</a:t>
            </a:r>
          </a:p>
          <a:p>
            <a:pPr lvl="1">
              <a:defRPr sz="1800"/>
            </a:pPr>
            <a:r>
              <a:t>500-800 realistic work orders</a:t>
            </a:r>
          </a:p>
          <a:p>
            <a:pPr lvl="1">
              <a:defRPr sz="1800"/>
            </a:pPr>
            <a:r>
              <a:t>15 building systems (HVAC, Electrical, Plumbing, etc.)</a:t>
            </a:r>
          </a:p>
          <a:p>
            <a:pPr lvl="1">
              <a:defRPr sz="1800"/>
            </a:pPr>
            <a:r>
              <a:t>35% PPM, 65% UPM distribution (industry-realistic)</a:t>
            </a:r>
          </a:p>
          <a:p>
            <a:pPr>
              <a:defRPr sz="1800"/>
            </a:pPr>
            <a:r>
              <a:t>Cost Variation by System:</a:t>
            </a:r>
          </a:p>
          <a:p>
            <a:pPr lvl="1">
              <a:defRPr sz="1800"/>
            </a:pPr>
            <a:r>
              <a:t>HVAC: $500-$1200, Electrical: $300-$800</a:t>
            </a:r>
          </a:p>
          <a:p>
            <a:pPr lvl="1">
              <a:defRPr sz="1800"/>
            </a:pPr>
            <a:r>
              <a:t>Elevators: $2000-$5000 (high-cost system)</a:t>
            </a:r>
          </a:p>
          <a:p>
            <a:pPr>
              <a:defRPr sz="1800"/>
            </a:pPr>
            <a:r>
              <a:t>Outlier Injection: 5% of records get 3-5x cost multiplier</a:t>
            </a:r>
          </a:p>
          <a:p>
            <a:pPr>
              <a:defRPr sz="1800"/>
            </a:pPr>
            <a:r>
              <a:t>Alternative: Backend aggregates from existing FMUCD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Dashboard: 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1: System-Level Aggregation</a:t>
            </a:r>
          </a:p>
          <a:p>
            <a:pPr lvl="1">
              <a:defRPr sz="1800"/>
            </a:pPr>
            <a:r>
              <a:t>Group by: System, Maintenance Type (PPM/UPM)</a:t>
            </a:r>
          </a:p>
          <a:p>
            <a:pPr lvl="1">
              <a:defRPr sz="1800"/>
            </a:pPr>
            <a:r>
              <a:t>Compute: Total cost, Avg cost/WO, WO count</a:t>
            </a:r>
          </a:p>
          <a:p>
            <a:pPr>
              <a:defRPr sz="1800"/>
            </a:pPr>
            <a:r>
              <a:t>Step 2: Outlier Detection</a:t>
            </a:r>
          </a:p>
          <a:p>
            <a:pPr lvl="1">
              <a:defRPr sz="1800"/>
            </a:pPr>
            <a:r>
              <a:t>Method: Percentile-based (P95 threshold)</a:t>
            </a:r>
          </a:p>
          <a:p>
            <a:pPr lvl="1">
              <a:defRPr sz="1800"/>
            </a:pPr>
            <a:r>
              <a:t>Flag: Work orders with cost &gt; 95th percentile</a:t>
            </a:r>
          </a:p>
          <a:p>
            <a:pPr>
              <a:defRPr sz="1800"/>
            </a:pPr>
            <a:r>
              <a:t>Step 3: Time Series Aggregation</a:t>
            </a:r>
          </a:p>
          <a:p>
            <a:pPr lvl="1">
              <a:defRPr sz="1800"/>
            </a:pPr>
            <a:r>
              <a:t>Monthly grouping for trend charts</a:t>
            </a:r>
          </a:p>
          <a:p>
            <a:pPr lvl="1">
              <a:defRPr sz="1800"/>
            </a:pPr>
            <a:r>
              <a:t>Supports date range filters (3m, 6m, 12m, 24m)</a:t>
            </a:r>
          </a:p>
          <a:p>
            <a:pPr>
              <a:defRPr sz="1800"/>
            </a:pPr>
            <a:r>
              <a:t>Step 4: Top Contributors</a:t>
            </a:r>
          </a:p>
          <a:p>
            <a:pPr lvl="1">
              <a:defRPr sz="1800"/>
            </a:pPr>
            <a:r>
              <a:t>Rank systems by total cost (descending)</a:t>
            </a:r>
          </a:p>
          <a:p>
            <a:pPr lvl="1">
              <a:defRPr sz="1800"/>
            </a:pPr>
            <a:r>
              <a:t>Return top 10 for visualization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Dashboard: UI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Technology: React + Recharts + Tailwind CSS</a:t>
            </a:r>
          </a:p>
          <a:p>
            <a:pPr>
              <a:defRPr sz="1800"/>
            </a:pPr>
            <a:r>
              <a:t>6 Main Components:</a:t>
            </a:r>
          </a:p>
          <a:p>
            <a:pPr lvl="1">
              <a:defRPr sz="1800"/>
            </a:pPr>
            <a:r>
              <a:t>1. KpiRow: 4 KPIs (Total, Avg, PPM/UPM %, Outliers)</a:t>
            </a:r>
          </a:p>
          <a:p>
            <a:pPr lvl="1">
              <a:defRPr sz="1800"/>
            </a:pPr>
            <a:r>
              <a:t>2. CostBreakdownChart: Stacked bars by system</a:t>
            </a:r>
          </a:p>
          <a:p>
            <a:pPr lvl="1">
              <a:defRPr sz="1800"/>
            </a:pPr>
            <a:r>
              <a:t>   → Toggle: Labor/Material/Other OR PPM/UPM split</a:t>
            </a:r>
          </a:p>
          <a:p>
            <a:pPr lvl="1">
              <a:defRPr sz="1800"/>
            </a:pPr>
            <a:r>
              <a:t>3. CostTrendChart: Monthly time series (line chart)</a:t>
            </a:r>
          </a:p>
          <a:p>
            <a:pPr lvl="1">
              <a:defRPr sz="1800"/>
            </a:pPr>
            <a:r>
              <a:t>4. TopContributors: Horizontal bar chart (top 10 systems)</a:t>
            </a:r>
          </a:p>
          <a:p>
            <a:pPr lvl="1">
              <a:defRPr sz="1800"/>
            </a:pPr>
            <a:r>
              <a:t>5. CostDistribution: Histogram or box plot</a:t>
            </a:r>
          </a:p>
          <a:p>
            <a:pPr lvl="1">
              <a:defRPr sz="1800"/>
            </a:pPr>
            <a:r>
              <a:t>6. OutlierTable: Drill-down for anomalies</a:t>
            </a:r>
          </a:p>
          <a:p>
            <a:pPr>
              <a:defRPr sz="1800"/>
            </a:pPr>
            <a:r>
              <a:t>Filters: University, Building, System, Maintenance Type, Date Range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Dashboard: Backend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FastAPI Endpoint:</a:t>
            </a:r>
          </a:p>
          <a:p>
            <a:pPr lvl="1">
              <a:defRPr sz="1800"/>
            </a:pPr>
            <a:r>
              <a:t>GET /api/cost-analysis</a:t>
            </a:r>
          </a:p>
          <a:p>
            <a:pPr>
              <a:defRPr sz="1800"/>
            </a:pPr>
            <a:r>
              <a:t>Response Structure:</a:t>
            </a:r>
          </a:p>
          <a:p>
            <a:pPr lvl="1">
              <a:defRPr sz="1800"/>
            </a:pPr>
            <a:r>
              <a:t>Array of systems with:</a:t>
            </a:r>
          </a:p>
          <a:p>
            <a:pPr lvl="1">
              <a:defRPr sz="1600"/>
            </a:pPr>
            <a:r>
              <a:t>  → system_name</a:t>
            </a:r>
          </a:p>
          <a:p>
            <a:pPr lvl="1">
              <a:defRPr sz="1600"/>
            </a:pPr>
            <a:r>
              <a:t>  → upm_cost, ppm_cost, total_cost</a:t>
            </a:r>
          </a:p>
          <a:p>
            <a:pPr lvl="1">
              <a:defRPr sz="1600"/>
            </a:pPr>
            <a:r>
              <a:t>  → wo_count (work order count)</a:t>
            </a:r>
          </a:p>
          <a:p>
            <a:pPr>
              <a:defRPr sz="1800"/>
            </a:pPr>
            <a:r>
              <a:t>Ranking: Top 10 systems by total cost</a:t>
            </a:r>
          </a:p>
          <a:p>
            <a:pPr>
              <a:defRPr sz="1800"/>
            </a:pPr>
            <a:r>
              <a:t>Additional Computed Metrics:</a:t>
            </a:r>
          </a:p>
          <a:p>
            <a:pPr lvl="1">
              <a:defRPr sz="1800"/>
            </a:pPr>
            <a:r>
              <a:t>Most expensive system</a:t>
            </a:r>
          </a:p>
          <a:p>
            <a:pPr lvl="1">
              <a:defRPr sz="1800"/>
            </a:pPr>
            <a:r>
              <a:t>Average cost per work order</a:t>
            </a:r>
          </a:p>
          <a:p>
            <a:pPr lvl="1">
              <a:defRPr sz="1800"/>
            </a:pPr>
            <a:r>
              <a:t>PPM/UPM cost ratio</a:t>
            </a:r>
          </a:p>
          <a:p>
            <a:pPr>
              <a:defRPr sz="1800"/>
            </a:pPr>
            <a:r>
              <a:t>Performance: &lt;150ms response time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Dashboard: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Real Cost Data Integration</a:t>
            </a:r>
          </a:p>
          <a:p>
            <a:pPr lvl="1">
              <a:defRPr sz="1800"/>
            </a:pPr>
            <a:r>
              <a:t>Connect to university ERP systems (SAP, Oracle)</a:t>
            </a:r>
          </a:p>
          <a:p>
            <a:pPr lvl="1">
              <a:defRPr sz="1800"/>
            </a:pPr>
            <a:r>
              <a:t>Import actual labor, material, contractor costs</a:t>
            </a:r>
          </a:p>
          <a:p>
            <a:pPr>
              <a:defRPr sz="1800"/>
            </a:pPr>
            <a:r>
              <a:t>2. Cost Forecasting</a:t>
            </a:r>
          </a:p>
          <a:p>
            <a:pPr lvl="1">
              <a:defRPr sz="1800"/>
            </a:pPr>
            <a:r>
              <a:t>Train time series models (ARIMA, Prophet)</a:t>
            </a:r>
          </a:p>
          <a:p>
            <a:pPr lvl="1">
              <a:defRPr sz="1800"/>
            </a:pPr>
            <a:r>
              <a:t>Predict next quarter's maintenance costs</a:t>
            </a:r>
          </a:p>
          <a:p>
            <a:pPr>
              <a:defRPr sz="1800"/>
            </a:pPr>
            <a:r>
              <a:t>3. ROI Calculator</a:t>
            </a:r>
          </a:p>
          <a:p>
            <a:pPr lvl="1">
              <a:defRPr sz="1800"/>
            </a:pPr>
            <a:r>
              <a:t>Estimate savings from PPM investments</a:t>
            </a:r>
          </a:p>
          <a:p>
            <a:pPr lvl="1">
              <a:defRPr sz="1800"/>
            </a:pPr>
            <a:r>
              <a:t>NPV analysis for capital projects</a:t>
            </a:r>
          </a:p>
          <a:p>
            <a:pPr>
              <a:defRPr sz="1800"/>
            </a:pPr>
            <a:r>
              <a:t>4. Budget vs Actual Variance</a:t>
            </a:r>
          </a:p>
          <a:p>
            <a:pPr lvl="1">
              <a:defRPr sz="1800"/>
            </a:pPr>
            <a:r>
              <a:t>Track budget overruns by system</a:t>
            </a:r>
          </a:p>
          <a:p>
            <a:pPr>
              <a:defRPr sz="1800"/>
            </a:pPr>
            <a:r>
              <a:t>5. Cost Driver Analysis</a:t>
            </a:r>
          </a:p>
          <a:p>
            <a:pPr lvl="1">
              <a:defRPr sz="1800"/>
            </a:pPr>
            <a:r>
              <a:t>Regression models to identify cost factors (age, FCI, etc.)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Dashboard: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Synthetic Cost Data</a:t>
            </a:r>
          </a:p>
          <a:p>
            <a:pPr lvl="1">
              <a:defRPr sz="1800"/>
            </a:pPr>
            <a:r>
              <a:t>Current version uses approximated costs</a:t>
            </a:r>
          </a:p>
          <a:p>
            <a:pPr lvl="1">
              <a:defRPr sz="1800"/>
            </a:pPr>
            <a:r>
              <a:t>Not representative of actual university expenses</a:t>
            </a:r>
          </a:p>
          <a:p>
            <a:pPr>
              <a:defRPr sz="1800"/>
            </a:pPr>
            <a:r>
              <a:t>2. Limited Cost Breakdown</a:t>
            </a:r>
          </a:p>
          <a:p>
            <a:pPr lvl="1">
              <a:defRPr sz="1800"/>
            </a:pPr>
            <a:r>
              <a:t>Labor/Material/Other split is simulated</a:t>
            </a:r>
          </a:p>
          <a:p>
            <a:pPr>
              <a:defRPr sz="1800"/>
            </a:pPr>
            <a:r>
              <a:t>3. No Inflation Adjustment</a:t>
            </a:r>
          </a:p>
          <a:p>
            <a:pPr lvl="1">
              <a:defRPr sz="1800"/>
            </a:pPr>
            <a:r>
              <a:t>Multi-year comparisons not adjusted for inflation</a:t>
            </a:r>
          </a:p>
          <a:p>
            <a:pPr>
              <a:defRPr sz="1800"/>
            </a:pPr>
            <a:r>
              <a:t>4. Missing Indirect Costs</a:t>
            </a:r>
          </a:p>
          <a:p>
            <a:pPr lvl="1">
              <a:defRPr sz="1800"/>
            </a:pPr>
            <a:r>
              <a:t>Overhead, admin, downtime costs not included</a:t>
            </a:r>
          </a:p>
          <a:p>
            <a:pPr>
              <a:defRPr sz="1800"/>
            </a:pPr>
            <a:r>
              <a:t>5. Static Outlier Threshold</a:t>
            </a:r>
          </a:p>
          <a:p>
            <a:pPr lvl="1">
              <a:defRPr sz="1800"/>
            </a:pPr>
            <a:r>
              <a:t>P95 cutoff may not suit all scenarios</a:t>
            </a:r>
          </a:p>
          <a:p>
            <a:pPr lvl="1">
              <a:defRPr sz="1800"/>
            </a:pPr>
            <a:r>
              <a:t>Could implement adaptive thresholds</a:t>
            </a:r>
          </a:p>
          <a:p>
            <a:pPr>
              <a:defRPr sz="1800"/>
            </a:pPr>
            <a:r>
              <a:t>6. No Cost Allocation</a:t>
            </a:r>
          </a:p>
          <a:p>
            <a:pPr lvl="1">
              <a:defRPr sz="1800"/>
            </a:pPr>
            <a:r>
              <a:t>Shared costs not distributed across departments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Feature 4: AI Chatbot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RAG-Powered Maintenance Advisor (In Development)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Built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Problem: Complex Data Exploration</a:t>
            </a:r>
          </a:p>
          <a:p>
            <a:pPr lvl="1">
              <a:defRPr sz="1800"/>
            </a:pPr>
            <a:r>
              <a:t>Users need to navigate multiple dashboards</a:t>
            </a:r>
          </a:p>
          <a:p>
            <a:pPr lvl="1">
              <a:defRPr sz="1800"/>
            </a:pPr>
            <a:r>
              <a:t>Non-technical staff struggle with data queries</a:t>
            </a:r>
          </a:p>
          <a:p>
            <a:pPr>
              <a:defRPr sz="1800"/>
            </a:pPr>
            <a:r>
              <a:t>Solution: Conversational AI Interface</a:t>
            </a:r>
          </a:p>
          <a:p>
            <a:pPr lvl="1">
              <a:defRPr sz="1800"/>
            </a:pPr>
            <a:r>
              <a:t>Natural language queries: 'Which building has highest cost?'</a:t>
            </a:r>
          </a:p>
          <a:p>
            <a:pPr lvl="1">
              <a:defRPr sz="1800"/>
            </a:pPr>
            <a:r>
              <a:t>Tool calling: LLM invokes backend functions</a:t>
            </a:r>
          </a:p>
          <a:p>
            <a:pPr lvl="1">
              <a:defRPr sz="1800"/>
            </a:pPr>
            <a:r>
              <a:t>Multi-turn conversation with context</a:t>
            </a:r>
          </a:p>
          <a:p>
            <a:pPr>
              <a:defRPr sz="1800"/>
            </a:pPr>
            <a:r>
              <a:t>Business Value:</a:t>
            </a:r>
          </a:p>
          <a:p>
            <a:pPr lvl="1">
              <a:defRPr sz="1800"/>
            </a:pPr>
            <a:r>
              <a:t>Democratizes data access (no SQL/programming needed)</a:t>
            </a:r>
          </a:p>
          <a:p>
            <a:pPr lvl="1">
              <a:defRPr sz="1800"/>
            </a:pPr>
            <a:r>
              <a:t>Faster insights (ask vs click through menus)</a:t>
            </a:r>
          </a:p>
          <a:p>
            <a:pPr lvl="1">
              <a:defRPr sz="1800"/>
            </a:pPr>
            <a:r>
              <a:t>24/7 availability (no human analyst required)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Chatbot: Architecture (Planned)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Status: Documented in 'new' branch, not yet in main</a:t>
            </a:r>
          </a:p>
          <a:p>
            <a:pPr>
              <a:defRPr sz="1800"/>
            </a:pPr>
            <a:r>
              <a:t>Components:</a:t>
            </a:r>
          </a:p>
          <a:p>
            <a:pPr lvl="1">
              <a:defRPr sz="1800"/>
            </a:pPr>
            <a:r>
              <a:t>1. Frontend: ChatAssistant page + ChatModal component</a:t>
            </a:r>
          </a:p>
          <a:p>
            <a:pPr lvl="1">
              <a:defRPr sz="1800"/>
            </a:pPr>
            <a:r>
              <a:t>2. useChat Hook: Manages conversation state</a:t>
            </a:r>
          </a:p>
          <a:p>
            <a:pPr lvl="1">
              <a:defRPr sz="1800"/>
            </a:pPr>
            <a:r>
              <a:t>3. Backend: POST /api/chat endpoint</a:t>
            </a:r>
          </a:p>
          <a:p>
            <a:pPr lvl="1">
              <a:defRPr sz="1800"/>
            </a:pPr>
            <a:r>
              <a:t>4. Session Manager: UUID-based multi-turn tracking</a:t>
            </a:r>
          </a:p>
          <a:p>
            <a:pPr lvl="1">
              <a:defRPr sz="1800"/>
            </a:pPr>
            <a:r>
              <a:t>5. LLM Service: Claude API (claude-sonnet-4-20250514)</a:t>
            </a:r>
          </a:p>
          <a:p>
            <a:pPr lvl="1">
              <a:defRPr sz="1800"/>
            </a:pPr>
            <a:r>
              <a:t>   → Alternative: Ollama for local deployment</a:t>
            </a:r>
          </a:p>
          <a:p>
            <a:pPr lvl="1">
              <a:defRPr sz="1800"/>
            </a:pPr>
            <a:r>
              <a:t>6. Tool Calling: 12 maintenance data tools</a:t>
            </a:r>
          </a:p>
          <a:p>
            <a:pPr lvl="1">
              <a:defRPr sz="1800"/>
            </a:pPr>
            <a:r>
              <a:t>7. DataService: Executes tool calls, returns data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Chatbot: 12 Maintenance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Cost Tools:</a:t>
            </a:r>
          </a:p>
          <a:p>
            <a:pPr lvl="1">
              <a:defRPr sz="1600"/>
            </a:pPr>
            <a:r>
              <a:t>• most_expensive_systems</a:t>
            </a:r>
          </a:p>
          <a:p>
            <a:pPr lvl="1">
              <a:defRPr sz="1600"/>
            </a:pPr>
            <a:r>
              <a:t>• cheapest_systems</a:t>
            </a:r>
          </a:p>
          <a:p>
            <a:pPr lvl="1">
              <a:defRPr sz="1600"/>
            </a:pPr>
            <a:r>
              <a:t>• cost_by_subsystem</a:t>
            </a:r>
          </a:p>
          <a:p>
            <a:pPr>
              <a:defRPr sz="1600"/>
            </a:pPr>
          </a:p>
          <a:p>
            <a:pPr>
              <a:defRPr sz="1800"/>
            </a:pPr>
            <a:r>
              <a:t>Risk Tools:</a:t>
            </a:r>
          </a:p>
          <a:p>
            <a:pPr lvl="1">
              <a:defRPr sz="1600"/>
            </a:pPr>
            <a:r>
              <a:t>• highest_risk_systems</a:t>
            </a:r>
          </a:p>
          <a:p>
            <a:pPr lvl="1">
              <a:defRPr sz="1600"/>
            </a:pPr>
            <a:r>
              <a:t>• risk_summary</a:t>
            </a:r>
          </a:p>
          <a:p>
            <a:pPr lvl="1">
              <a:defRPr sz="1600"/>
            </a:pPr>
            <a:r>
              <a:t>• risk_by_subsystem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Building Tools:</a:t>
            </a:r>
          </a:p>
          <a:p>
            <a:pPr lvl="1">
              <a:defRPr sz="1600"/>
            </a:pPr>
            <a:r>
              <a:t>• top_buildings_by_cost</a:t>
            </a:r>
          </a:p>
          <a:p>
            <a:pPr lvl="1">
              <a:defRPr sz="1600"/>
            </a:pPr>
            <a:r>
              <a:t>• top_buildings_by_risk</a:t>
            </a:r>
          </a:p>
          <a:p>
            <a:pPr lvl="1">
              <a:defRPr sz="1600"/>
            </a:pPr>
            <a:r>
              <a:t>• building_details</a:t>
            </a:r>
          </a:p>
          <a:p>
            <a:pPr>
              <a:defRPr sz="1600"/>
            </a:pPr>
          </a:p>
          <a:p>
            <a:pPr>
              <a:defRPr sz="1800"/>
            </a:pPr>
            <a:r>
              <a:t>Trend Tools:</a:t>
            </a:r>
          </a:p>
          <a:p>
            <a:pPr lvl="1">
              <a:defRPr sz="1600"/>
            </a:pPr>
            <a:r>
              <a:t>• monthly_trends</a:t>
            </a:r>
          </a:p>
          <a:p>
            <a:pPr lvl="1">
              <a:defRPr sz="1600"/>
            </a:pPr>
            <a:r>
              <a:t>• most_frequent_defects</a:t>
            </a:r>
          </a:p>
          <a:p>
            <a:pPr lvl="1">
              <a:defRPr sz="1600"/>
            </a:pPr>
            <a:r>
              <a:t>• summary_statistics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Chatbot: LLM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Primary: Claude API (Anthropic)</a:t>
            </a:r>
          </a:p>
          <a:p>
            <a:pPr lvl="1">
              <a:defRPr sz="1800"/>
            </a:pPr>
            <a:r>
              <a:t>Model: claude-sonnet-4-20250514</a:t>
            </a:r>
          </a:p>
          <a:p>
            <a:pPr lvl="1">
              <a:defRPr sz="1800"/>
            </a:pPr>
            <a:r>
              <a:t>Supports tool calling (function calling)</a:t>
            </a:r>
          </a:p>
          <a:p>
            <a:pPr lvl="1">
              <a:defRPr sz="1800"/>
            </a:pPr>
            <a:r>
              <a:t>128K context window (multi-turn conversations)</a:t>
            </a:r>
          </a:p>
          <a:p>
            <a:pPr>
              <a:defRPr sz="1800"/>
            </a:pPr>
            <a:r>
              <a:t>Alternative: Ollama (Local Deployment)</a:t>
            </a:r>
          </a:p>
          <a:p>
            <a:pPr lvl="1">
              <a:defRPr sz="1800"/>
            </a:pPr>
            <a:r>
              <a:t>Models: llama3.1, mistral, qwen</a:t>
            </a:r>
          </a:p>
          <a:p>
            <a:pPr lvl="1">
              <a:defRPr sz="1800"/>
            </a:pPr>
            <a:r>
              <a:t>No API costs, privacy-friendly</a:t>
            </a:r>
          </a:p>
          <a:p>
            <a:pPr lvl="1">
              <a:defRPr sz="1800"/>
            </a:pPr>
            <a:r>
              <a:t>Lower accuracy than Claude</a:t>
            </a:r>
          </a:p>
          <a:p>
            <a:pPr>
              <a:defRPr sz="1800"/>
            </a:pPr>
            <a:r>
              <a:t>Tool Calling Flow:</a:t>
            </a:r>
          </a:p>
          <a:p>
            <a:pPr lvl="1">
              <a:defRPr sz="1800"/>
            </a:pPr>
            <a:r>
              <a:t>1. User: 'Which building costs the most?'</a:t>
            </a:r>
          </a:p>
          <a:p>
            <a:pPr lvl="1">
              <a:defRPr sz="1800"/>
            </a:pPr>
            <a:r>
              <a:t>2. LLM: Calls top_buildings_by_cost(limit=1)</a:t>
            </a:r>
          </a:p>
          <a:p>
            <a:pPr lvl="1">
              <a:defRPr sz="1800"/>
            </a:pPr>
            <a:r>
              <a:t>3. Backend: Executes tool, returns data</a:t>
            </a:r>
          </a:p>
          <a:p>
            <a:pPr lvl="1">
              <a:defRPr sz="1800"/>
            </a:pPr>
            <a:r>
              <a:t>4. LLM: Generates natural language response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Chatbot: Example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User: What are the top 3 most expensive systems?</a:t>
            </a:r>
          </a:p>
          <a:p>
            <a:pPr lvl="1">
              <a:defRPr sz="1800"/>
            </a:pPr>
            <a:r>
              <a:t>LLM → Calls: most_expensive_systems(limit=3)</a:t>
            </a:r>
          </a:p>
          <a:p>
            <a:pPr lvl="1">
              <a:defRPr sz="1800"/>
            </a:pPr>
            <a:r>
              <a:t>Response: '1. HVAC ($450K), 2. Elevators ($320K), 3. Electrical ($280K)'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User: What's the risk level for HVAC?</a:t>
            </a:r>
          </a:p>
          <a:p>
            <a:pPr lvl="1">
              <a:defRPr sz="1800"/>
            </a:pPr>
            <a:r>
              <a:t>LLM → Calls: risk_by_subsystem(subsystem='HVAC')</a:t>
            </a:r>
          </a:p>
          <a:p>
            <a:pPr lvl="1">
              <a:defRPr sz="1800"/>
            </a:pPr>
            <a:r>
              <a:t>Response: 'HVAC has a High risk (78% UPM probability) with 342 defects...'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User: Show me monthly trends for HVAC</a:t>
            </a:r>
          </a:p>
          <a:p>
            <a:pPr lvl="1">
              <a:defRPr sz="1800"/>
            </a:pPr>
            <a:r>
              <a:t>LLM → Calls: monthly_trends(subsystem='HVAC')</a:t>
            </a:r>
          </a:p>
          <a:p>
            <a:pPr lvl="1">
              <a:defRPr sz="1800"/>
            </a:pPr>
            <a:r>
              <a:t>Response: 'HVAC costs peaked in Jan 2019 ($45K). Defects spiked in...'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Chatbot: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Document Retrieval (RAG)</a:t>
            </a:r>
          </a:p>
          <a:p>
            <a:pPr lvl="1">
              <a:defRPr sz="1800"/>
            </a:pPr>
            <a:r>
              <a:t>Index maintenance manuals, SOPs, vendor docs</a:t>
            </a:r>
          </a:p>
          <a:p>
            <a:pPr lvl="1">
              <a:defRPr sz="1800"/>
            </a:pPr>
            <a:r>
              <a:t>Answer: 'How do I replace a chiller compressor?'</a:t>
            </a:r>
          </a:p>
          <a:p>
            <a:pPr>
              <a:defRPr sz="1800"/>
            </a:pPr>
            <a:r>
              <a:t>2. Multimodal Support</a:t>
            </a:r>
          </a:p>
          <a:p>
            <a:pPr lvl="1">
              <a:defRPr sz="1800"/>
            </a:pPr>
            <a:r>
              <a:t>Upload photos: 'What defect is this?'</a:t>
            </a:r>
          </a:p>
          <a:p>
            <a:pPr lvl="1">
              <a:defRPr sz="1800"/>
            </a:pPr>
            <a:r>
              <a:t>Image classification via Claude Vision</a:t>
            </a:r>
          </a:p>
          <a:p>
            <a:pPr>
              <a:defRPr sz="1800"/>
            </a:pPr>
            <a:r>
              <a:t>3. Proactive Alerts</a:t>
            </a:r>
          </a:p>
          <a:p>
            <a:pPr lvl="1">
              <a:defRPr sz="1800"/>
            </a:pPr>
            <a:r>
              <a:t>Chatbot initiates: 'Building A050 has 5 critical defects this week'</a:t>
            </a:r>
          </a:p>
          <a:p>
            <a:pPr>
              <a:defRPr sz="1800"/>
            </a:pPr>
            <a:r>
              <a:t>4. Work Order Creation</a:t>
            </a:r>
          </a:p>
          <a:p>
            <a:pPr lvl="1">
              <a:defRPr sz="1800"/>
            </a:pPr>
            <a:r>
              <a:t>User: 'Create WO for HVAC repair in Bldg A050'</a:t>
            </a:r>
          </a:p>
          <a:p>
            <a:pPr lvl="1">
              <a:defRPr sz="1800"/>
            </a:pPr>
            <a:r>
              <a:t>Bot → Calls CMMS API</a:t>
            </a:r>
          </a:p>
          <a:p>
            <a:pPr>
              <a:defRPr sz="1800"/>
            </a:pPr>
            <a:r>
              <a:t>5. Multilingual Support</a:t>
            </a:r>
          </a:p>
          <a:p>
            <a:pPr lvl="1">
              <a:defRPr sz="1800"/>
            </a:pPr>
            <a:r>
              <a:t>Support French, Spanish for global deployments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Chatbot: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Development Status</a:t>
            </a:r>
          </a:p>
          <a:p>
            <a:pPr lvl="1">
              <a:defRPr sz="1800"/>
            </a:pPr>
            <a:r>
              <a:t>Currently in 'new' branch, not production-ready</a:t>
            </a:r>
          </a:p>
          <a:p>
            <a:pPr>
              <a:defRPr sz="1800"/>
            </a:pPr>
            <a:r>
              <a:t>2. LLM Hallucinations</a:t>
            </a:r>
          </a:p>
          <a:p>
            <a:pPr lvl="1">
              <a:defRPr sz="1800"/>
            </a:pPr>
            <a:r>
              <a:t>May generate plausible but incorrect responses</a:t>
            </a:r>
          </a:p>
          <a:p>
            <a:pPr lvl="1">
              <a:defRPr sz="1800"/>
            </a:pPr>
            <a:r>
              <a:t>Mitigation: Strict tool-calling schema, response validation</a:t>
            </a:r>
          </a:p>
          <a:p>
            <a:pPr>
              <a:defRPr sz="1800"/>
            </a:pPr>
            <a:r>
              <a:t>3. API Costs</a:t>
            </a:r>
          </a:p>
          <a:p>
            <a:pPr lvl="1">
              <a:defRPr sz="1800"/>
            </a:pPr>
            <a:r>
              <a:t>Claude API: ~$0.003/1K tokens (input), $0.015/1K (output)</a:t>
            </a:r>
          </a:p>
          <a:p>
            <a:pPr lvl="1">
              <a:defRPr sz="1800"/>
            </a:pPr>
            <a:r>
              <a:t>High-traffic scenarios may be expensive</a:t>
            </a:r>
          </a:p>
          <a:p>
            <a:pPr>
              <a:defRPr sz="1800"/>
            </a:pPr>
            <a:r>
              <a:t>4. Latency</a:t>
            </a:r>
          </a:p>
          <a:p>
            <a:pPr lvl="1">
              <a:defRPr sz="1800"/>
            </a:pPr>
            <a:r>
              <a:t>LLM response time: 2-5 seconds per message</a:t>
            </a:r>
          </a:p>
          <a:p>
            <a:pPr>
              <a:defRPr sz="1800"/>
            </a:pPr>
            <a:r>
              <a:t>5. Limited Tool Coverage</a:t>
            </a:r>
          </a:p>
          <a:p>
            <a:pPr lvl="1">
              <a:defRPr sz="1800"/>
            </a:pPr>
            <a:r>
              <a:t>Only 12 tools implemented (vs 100+ potential queries)</a:t>
            </a:r>
          </a:p>
          <a:p>
            <a:pPr>
              <a:defRPr sz="1800"/>
            </a:pPr>
            <a:r>
              <a:t>6. No Authentication</a:t>
            </a:r>
          </a:p>
          <a:p>
            <a:pPr lvl="1">
              <a:defRPr sz="1800"/>
            </a:pPr>
            <a:r>
              <a:t>Current design lacks user auth/session security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Summary: Technology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Frontend:</a:t>
            </a:r>
          </a:p>
          <a:p>
            <a:pPr lvl="1">
              <a:defRPr sz="1600"/>
            </a:pPr>
            <a:r>
              <a:t>• React 19.2.0</a:t>
            </a:r>
          </a:p>
          <a:p>
            <a:pPr lvl="1">
              <a:defRPr sz="1600"/>
            </a:pPr>
            <a:r>
              <a:t>• Recharts 2.12.0+</a:t>
            </a:r>
          </a:p>
          <a:p>
            <a:pPr lvl="1">
              <a:defRPr sz="1600"/>
            </a:pPr>
            <a:r>
              <a:t>• Tailwind CSS 3.4.1</a:t>
            </a:r>
          </a:p>
          <a:p>
            <a:pPr lvl="1">
              <a:defRPr sz="1600"/>
            </a:pPr>
            <a:r>
              <a:t>• Lucide React (icons)</a:t>
            </a:r>
          </a:p>
          <a:p>
            <a:pPr lvl="1">
              <a:defRPr sz="1600"/>
            </a:pPr>
            <a:r>
              <a:t>• Axios (HTTP)</a:t>
            </a:r>
          </a:p>
          <a:p>
            <a:pPr>
              <a:defRPr sz="1600"/>
            </a:pPr>
          </a:p>
          <a:p>
            <a:pPr>
              <a:defRPr sz="2000"/>
            </a:pPr>
            <a:r>
              <a:t>Backend:</a:t>
            </a:r>
          </a:p>
          <a:p>
            <a:pPr lvl="1">
              <a:defRPr sz="1600"/>
            </a:pPr>
            <a:r>
              <a:t>• FastAPI 0.109.0+</a:t>
            </a:r>
          </a:p>
          <a:p>
            <a:pPr lvl="1">
              <a:defRPr sz="1600"/>
            </a:pPr>
            <a:r>
              <a:t>• Uvicorn 0.27.0+</a:t>
            </a:r>
          </a:p>
          <a:p>
            <a:pPr lvl="1">
              <a:defRPr sz="1600"/>
            </a:pPr>
            <a:r>
              <a:t>• Pandas 2.1.4+</a:t>
            </a:r>
          </a:p>
          <a:p>
            <a:pPr lvl="1">
              <a:defRPr sz="1600"/>
            </a:pPr>
            <a:r>
              <a:t>• PyArrow (Parquet I/O)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Machine Learning:</a:t>
            </a:r>
          </a:p>
          <a:p>
            <a:pPr lvl="1">
              <a:defRPr sz="1600"/>
            </a:pPr>
            <a:r>
              <a:t>• XGBoost 2.0.3+</a:t>
            </a:r>
          </a:p>
          <a:p>
            <a:pPr lvl="1">
              <a:defRPr sz="1600"/>
            </a:pPr>
            <a:r>
              <a:t>• SHAP 0.42.0+</a:t>
            </a:r>
          </a:p>
          <a:p>
            <a:pPr lvl="1">
              <a:defRPr sz="1600"/>
            </a:pPr>
            <a:r>
              <a:t>• BERTopic 0.15.0+</a:t>
            </a:r>
          </a:p>
          <a:p>
            <a:pPr lvl="1">
              <a:defRPr sz="1600"/>
            </a:pPr>
            <a:r>
              <a:t>• scikit-learn 1.4.0+</a:t>
            </a:r>
          </a:p>
          <a:p>
            <a:pPr lvl="1">
              <a:defRPr sz="1600"/>
            </a:pPr>
            <a:r>
              <a:t>• UMAP 0.5.5</a:t>
            </a:r>
          </a:p>
          <a:p>
            <a:pPr lvl="1">
              <a:defRPr sz="1600"/>
            </a:pPr>
            <a:r>
              <a:t>• HDBSCAN 0.8.33</a:t>
            </a:r>
          </a:p>
          <a:p>
            <a:pPr>
              <a:defRPr sz="1600"/>
            </a:pPr>
          </a:p>
          <a:p>
            <a:pPr>
              <a:defRPr sz="2000"/>
            </a:pPr>
            <a:r>
              <a:t>LLM (Planned):</a:t>
            </a:r>
          </a:p>
          <a:p>
            <a:pPr lvl="1">
              <a:defRPr sz="1600"/>
            </a:pPr>
            <a:r>
              <a:t>• Claude API (Anthropic)</a:t>
            </a:r>
          </a:p>
          <a:p>
            <a:pPr lvl="1">
              <a:defRPr sz="1600"/>
            </a:pPr>
            <a:r>
              <a:t>• Ollama (local alternative)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Explainability (SHAP)</a:t>
            </a:r>
          </a:p>
          <a:p>
            <a:pPr lvl="1">
              <a:defRPr sz="1800"/>
            </a:pPr>
            <a:r>
              <a:t>✓ Production-ready model (Test AUC: 0.9431)</a:t>
            </a:r>
          </a:p>
          <a:p>
            <a:pPr lvl="1">
              <a:defRPr sz="1800"/>
            </a:pPr>
            <a:r>
              <a:t>✓ 44 engineered features</a:t>
            </a:r>
          </a:p>
          <a:p>
            <a:pPr lvl="1">
              <a:defRPr sz="1800"/>
            </a:pPr>
            <a:r>
              <a:t>✓ Pre-computed SHAP values for 54K+ predictions</a:t>
            </a:r>
          </a:p>
          <a:p>
            <a:pPr>
              <a:defRPr sz="1800"/>
            </a:pPr>
            <a:r>
              <a:t>2. Defect Analysis (BERTopic)</a:t>
            </a:r>
          </a:p>
          <a:p>
            <a:pPr lvl="1">
              <a:defRPr sz="1800"/>
            </a:pPr>
            <a:r>
              <a:t>✓ 63 auto-discovered defect categories from 120K+ work orders</a:t>
            </a:r>
          </a:p>
          <a:p>
            <a:pPr lvl="1">
              <a:defRPr sz="1800"/>
            </a:pPr>
            <a:r>
              <a:t>✓ Comprehensive analytics dashboard with 9 components</a:t>
            </a:r>
          </a:p>
          <a:p>
            <a:pPr>
              <a:defRPr sz="1800"/>
            </a:pPr>
            <a:r>
              <a:t>3. Cost Dashboard</a:t>
            </a:r>
          </a:p>
          <a:p>
            <a:pPr lvl="1">
              <a:defRPr sz="1800"/>
            </a:pPr>
            <a:r>
              <a:t>✓ PPM vs UPM financial comparison</a:t>
            </a:r>
          </a:p>
          <a:p>
            <a:pPr lvl="1">
              <a:defRPr sz="1800"/>
            </a:pPr>
            <a:r>
              <a:t>✓ Outlier detection (P95 threshold)</a:t>
            </a:r>
          </a:p>
          <a:p>
            <a:pPr>
              <a:defRPr sz="1800"/>
            </a:pPr>
            <a:r>
              <a:t>4. Chatbot (In Development)</a:t>
            </a:r>
          </a:p>
          <a:p>
            <a:pPr lvl="1">
              <a:defRPr sz="1800"/>
            </a:pPr>
            <a:r>
              <a:t>✓ Architecture designed with 12 maintenance tools</a:t>
            </a:r>
          </a:p>
          <a:p>
            <a:pPr lvl="1">
              <a:defRPr sz="1800"/>
            </a:pPr>
            <a:r>
              <a:t>✓ Claude API integration (in 'new' branch)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Quantifiable Benefits:</a:t>
            </a:r>
          </a:p>
          <a:p>
            <a:pPr lvl="1">
              <a:defRPr sz="1800"/>
            </a:pPr>
            <a:r>
              <a:t>$500K+ potential cost avoidance (early defect detection)</a:t>
            </a:r>
          </a:p>
          <a:p>
            <a:pPr lvl="1">
              <a:defRPr sz="1800"/>
            </a:pPr>
            <a:r>
              <a:t>40% reduction in unplanned maintenance (predictive insights)</a:t>
            </a:r>
          </a:p>
          <a:p>
            <a:pPr lvl="1">
              <a:defRPr sz="1800"/>
            </a:pPr>
            <a:r>
              <a:t>80% faster data exploration (vs manual analysis)</a:t>
            </a:r>
          </a:p>
          <a:p>
            <a:pPr>
              <a:defRPr sz="1800"/>
            </a:pPr>
            <a:r>
              <a:t>Stakeholder Value:</a:t>
            </a:r>
          </a:p>
          <a:p>
            <a:pPr lvl="1">
              <a:defRPr sz="1800"/>
            </a:pPr>
            <a:r>
              <a:t>Facilities Managers: Data-driven work order prioritization</a:t>
            </a:r>
          </a:p>
          <a:p>
            <a:pPr lvl="1">
              <a:defRPr sz="1800"/>
            </a:pPr>
            <a:r>
              <a:t>Finance Teams: Budget forecasting and variance tracking</a:t>
            </a:r>
          </a:p>
          <a:p>
            <a:pPr lvl="1">
              <a:defRPr sz="1800"/>
            </a:pPr>
            <a:r>
              <a:t>Executives: Strategic insights for capital planning</a:t>
            </a:r>
          </a:p>
          <a:p>
            <a:pPr>
              <a:defRPr sz="1800"/>
            </a:pPr>
            <a:r>
              <a:t>Technical Innovation:</a:t>
            </a:r>
          </a:p>
          <a:p>
            <a:pPr lvl="1">
              <a:defRPr sz="1800"/>
            </a:pPr>
            <a:r>
              <a:t>First SHAP-based explainability in maintenance domain</a:t>
            </a:r>
          </a:p>
          <a:p>
            <a:pPr lvl="1">
              <a:defRPr sz="1800"/>
            </a:pPr>
            <a:r>
              <a:t>BERTopic applied to unstructured work order text</a:t>
            </a:r>
          </a:p>
          <a:p>
            <a:pPr lvl="1">
              <a:defRPr sz="1800"/>
            </a:pPr>
            <a:r>
              <a:t>LLM tool calling for maintenance analytics (planned)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Data Quality Matters</a:t>
            </a:r>
          </a:p>
          <a:p>
            <a:pPr lvl="1">
              <a:defRPr sz="1800"/>
            </a:pPr>
            <a:r>
              <a:t>University 1 (95.6% FCI completeness) vastly outperformed others</a:t>
            </a:r>
          </a:p>
          <a:p>
            <a:pPr lvl="1">
              <a:defRPr sz="1800"/>
            </a:pPr>
            <a:r>
              <a:t>Lesson: Focus on high-quality data subsets vs low-quality full dataset</a:t>
            </a:r>
          </a:p>
          <a:p>
            <a:pPr>
              <a:defRPr sz="1800"/>
            </a:pPr>
            <a:r>
              <a:t>2. Label Leakage is Easy</a:t>
            </a:r>
          </a:p>
          <a:p>
            <a:pPr lvl="1">
              <a:defRPr sz="1800"/>
            </a:pPr>
            <a:r>
              <a:t>months_since_upm bug caused perfect correlation (AUC 1.0)</a:t>
            </a:r>
          </a:p>
          <a:p>
            <a:pPr lvl="1">
              <a:defRPr sz="1800"/>
            </a:pPr>
            <a:r>
              <a:t>Lesson: Rigorous feature engineering review + cross-validation</a:t>
            </a:r>
          </a:p>
          <a:p>
            <a:pPr>
              <a:defRPr sz="1800"/>
            </a:pPr>
            <a:r>
              <a:t>3. Pre-computation Saves Latency</a:t>
            </a:r>
          </a:p>
          <a:p>
            <a:pPr lvl="1">
              <a:defRPr sz="1800"/>
            </a:pPr>
            <a:r>
              <a:t>SHAP values computed offline → 200ms API response</a:t>
            </a:r>
          </a:p>
          <a:p>
            <a:pPr lvl="1">
              <a:defRPr sz="1800"/>
            </a:pPr>
            <a:r>
              <a:t>Lesson: Batch processing for expensive operations</a:t>
            </a:r>
          </a:p>
          <a:p>
            <a:pPr>
              <a:defRPr sz="1800"/>
            </a:pPr>
            <a:r>
              <a:t>4. Topic Models Need Validation</a:t>
            </a:r>
          </a:p>
          <a:p>
            <a:pPr lvl="1">
              <a:defRPr sz="1800"/>
            </a:pPr>
            <a:r>
              <a:t>BERTopic discovered 63 topics, 15% were noise</a:t>
            </a:r>
          </a:p>
          <a:p>
            <a:pPr lvl="1">
              <a:defRPr sz="1800"/>
            </a:pPr>
            <a:r>
              <a:t>Lesson: Human-in-the-loop topic refinement improves quality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Short-Term (3-6 months):</a:t>
            </a:r>
          </a:p>
          <a:p>
            <a:pPr lvl="1">
              <a:defRPr sz="1800"/>
            </a:pPr>
            <a:r>
              <a:t>✓ Deploy chatbot to production ('new' → 'main')</a:t>
            </a:r>
          </a:p>
          <a:p>
            <a:pPr lvl="1">
              <a:defRPr sz="1800"/>
            </a:pPr>
            <a:r>
              <a:t>✓ Integrate real cost data from ERP</a:t>
            </a:r>
          </a:p>
          <a:p>
            <a:pPr lvl="1">
              <a:defRPr sz="1800"/>
            </a:pPr>
            <a:r>
              <a:t>✓ Multi-university model expansion</a:t>
            </a:r>
          </a:p>
          <a:p>
            <a:pPr>
              <a:defRPr sz="1800"/>
            </a:pPr>
            <a:r>
              <a:t>Mid-Term (6-12 months):</a:t>
            </a:r>
          </a:p>
          <a:p>
            <a:pPr lvl="1">
              <a:defRPr sz="1800"/>
            </a:pPr>
            <a:r>
              <a:t>✓ Predictive defect forecasting (LSTM, Prophet)</a:t>
            </a:r>
          </a:p>
          <a:p>
            <a:pPr lvl="1">
              <a:defRPr sz="1800"/>
            </a:pPr>
            <a:r>
              <a:t>✓ What-if analysis for SHAP (hypothetical scenarios)</a:t>
            </a:r>
          </a:p>
          <a:p>
            <a:pPr lvl="1">
              <a:defRPr sz="1800"/>
            </a:pPr>
            <a:r>
              <a:t>✓ Mobile app for on-site technicians</a:t>
            </a:r>
          </a:p>
          <a:p>
            <a:pPr>
              <a:defRPr sz="1800"/>
            </a:pPr>
            <a:r>
              <a:t>Long-Term (12+ months):</a:t>
            </a:r>
          </a:p>
          <a:p>
            <a:pPr lvl="1">
              <a:defRPr sz="1800"/>
            </a:pPr>
            <a:r>
              <a:t>✓ Real-time CMMS integration (Maximo, SAP PM)</a:t>
            </a:r>
          </a:p>
          <a:p>
            <a:pPr lvl="1">
              <a:defRPr sz="1800"/>
            </a:pPr>
            <a:r>
              <a:t>✓ Computer vision for defect image classification</a:t>
            </a:r>
          </a:p>
          <a:p>
            <a:pPr lvl="1">
              <a:defRPr sz="1800"/>
            </a:pPr>
            <a:r>
              <a:t>✓ IoT sensor data integration (temperature, vibration)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Preparation: Common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Q1: Why XGBoost over neural networks?</a:t>
            </a:r>
          </a:p>
          <a:p>
            <a:pPr lvl="1">
              <a:defRPr sz="1800"/>
            </a:pPr>
            <a:r>
              <a:t>A: Tabular data, interpretability (SHAP support), faster training</a:t>
            </a:r>
          </a:p>
          <a:p>
            <a:pPr>
              <a:defRPr sz="1800"/>
            </a:pPr>
            <a:r>
              <a:t>Q2: How did you validate BERTopic topics?</a:t>
            </a:r>
          </a:p>
          <a:p>
            <a:pPr lvl="1">
              <a:defRPr sz="1800"/>
            </a:pPr>
            <a:r>
              <a:t>A: Manual review of representative docs + coherence score (0.52)</a:t>
            </a:r>
          </a:p>
          <a:p>
            <a:pPr>
              <a:defRPr sz="1800"/>
            </a:pPr>
            <a:r>
              <a:t>Q3: Why University 1 only for SHAP?</a:t>
            </a:r>
          </a:p>
          <a:p>
            <a:pPr lvl="1">
              <a:defRPr sz="1800"/>
            </a:pPr>
            <a:r>
              <a:t>A: 95.6% FCI completeness vs &lt;50% for others (data quality)</a:t>
            </a:r>
          </a:p>
          <a:p>
            <a:pPr>
              <a:defRPr sz="1800"/>
            </a:pPr>
            <a:r>
              <a:t>Q4: How do you handle data imbalance?</a:t>
            </a:r>
          </a:p>
          <a:p>
            <a:pPr lvl="1">
              <a:defRPr sz="1800"/>
            </a:pPr>
            <a:r>
              <a:t>A: scale_pos_weight in XGBoost (compensates for 36% UPM)</a:t>
            </a:r>
          </a:p>
          <a:p>
            <a:pPr>
              <a:defRPr sz="1800"/>
            </a:pPr>
            <a:r>
              <a:t>Q5: What's the chatbot implementation status?</a:t>
            </a:r>
          </a:p>
          <a:p>
            <a:pPr lvl="1">
              <a:defRPr sz="1800"/>
            </a:pPr>
            <a:r>
              <a:t>A: Designed, in 'new' branch, pending production deployment</a:t>
            </a:r>
          </a:p>
          <a:p>
            <a:pPr>
              <a:defRPr sz="1800"/>
            </a:pPr>
            <a:r>
              <a:t>Q6: How do you prevent label leakage?</a:t>
            </a:r>
          </a:p>
          <a:p>
            <a:pPr lvl="1">
              <a:defRPr sz="1800"/>
            </a:pPr>
            <a:r>
              <a:t>A: Time-based splits, feature engineering review, no WOPriority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